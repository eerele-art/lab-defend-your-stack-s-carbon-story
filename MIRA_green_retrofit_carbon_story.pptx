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af2b88027774cfe" /><Relationship Type="http://schemas.openxmlformats.org/officeDocument/2006/relationships/extended-properties" Target="/docProps/app.xml" Id="R2e764c56992d4212" /><Relationship Type="http://schemas.openxmlformats.org/officeDocument/2006/relationships/officeDocument" Target="/ppt/presentation.xml" Id="Rd341e30702ce43fb" /></Relationships>
</file>

<file path=ppt/presentation.xml><?xml version="1.0" encoding="utf-8"?>
<p:presentation xmlns:p="http://schemas.openxmlformats.org/presentationml/2006/main">
  <p:sldMasterIdLst>
    <p:sldMasterId xmlns:r="http://schemas.openxmlformats.org/officeDocument/2006/relationships" id="2147483648" r:id="Radecbcb6f53c44f7"/>
  </p:sldMasterIdLst>
  <p:notesMasterIdLst>
    <p:notesMasterId xmlns:r="http://schemas.openxmlformats.org/officeDocument/2006/relationships" r:id="R4e76d99b143d48e0"/>
  </p:notesMasterIdLst>
  <p:sldIdLst>
    <p:sldId xmlns:r="http://schemas.openxmlformats.org/officeDocument/2006/relationships" id="256" r:id="Rba37351ba0c74a33"/>
    <p:sldId xmlns:r="http://schemas.openxmlformats.org/officeDocument/2006/relationships" id="257" r:id="R9562f69fed2344e0"/>
    <p:sldId xmlns:r="http://schemas.openxmlformats.org/officeDocument/2006/relationships" id="258" r:id="Rec18fb1127624f28"/>
    <p:sldId xmlns:r="http://schemas.openxmlformats.org/officeDocument/2006/relationships" id="259" r:id="R9af02f8be96044f4"/>
    <p:sldId xmlns:r="http://schemas.openxmlformats.org/officeDocument/2006/relationships" id="260" r:id="Rf24359ac676b436f"/>
    <p:sldId xmlns:r="http://schemas.openxmlformats.org/officeDocument/2006/relationships" id="261" r:id="R38bccff75ede4e03"/>
    <p:sldId xmlns:r="http://schemas.openxmlformats.org/officeDocument/2006/relationships" id="262" r:id="R70ce311b87474429"/>
    <p:sldId xmlns:r="http://schemas.openxmlformats.org/officeDocument/2006/relationships" id="263" r:id="R7905daa8b9ab4529"/>
    <p:sldId xmlns:r="http://schemas.openxmlformats.org/officeDocument/2006/relationships" id="264" r:id="R085201ab33624708"/>
    <p:sldId xmlns:r="http://schemas.openxmlformats.org/officeDocument/2006/relationships" id="265" r:id="Re502477f29784365"/>
    <p:sldId xmlns:r="http://schemas.openxmlformats.org/officeDocument/2006/relationships" id="266" r:id="R3c4baa5d6ccf4f39"/>
    <p:sldId xmlns:r="http://schemas.openxmlformats.org/officeDocument/2006/relationships" id="267" r:id="Rc52f9573a13b4a66"/>
    <p:sldId xmlns:r="http://schemas.openxmlformats.org/officeDocument/2006/relationships" id="268" r:id="R676ce40219574d4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6d975150f048a5" /><Relationship Type="http://schemas.openxmlformats.org/officeDocument/2006/relationships/slideMaster" Target="/ppt/slideMasters/slideMaster1.xml" Id="Radecbcb6f53c44f7" /><Relationship Type="http://schemas.openxmlformats.org/officeDocument/2006/relationships/notesMaster" Target="/ppt/notesMasters/notesMaster1.xml" Id="R4e76d99b143d48e0" /><Relationship Type="http://schemas.openxmlformats.org/officeDocument/2006/relationships/presProps" Target="/ppt/presProps.xml" Id="R338ed93472184018" /><Relationship Type="http://schemas.openxmlformats.org/officeDocument/2006/relationships/tableStyles" Target="/ppt/tableStyles.xml" Id="Rc34fe44dff2942ef" /><Relationship Type="http://schemas.openxmlformats.org/officeDocument/2006/relationships/slide" Target="/ppt/slides/slide1.xml" Id="Rba37351ba0c74a33" /><Relationship Type="http://schemas.openxmlformats.org/officeDocument/2006/relationships/slide" Target="/ppt/slides/slide2.xml" Id="R9562f69fed2344e0" /><Relationship Type="http://schemas.openxmlformats.org/officeDocument/2006/relationships/slide" Target="/ppt/slides/slide3.xml" Id="Rec18fb1127624f28" /><Relationship Type="http://schemas.openxmlformats.org/officeDocument/2006/relationships/slide" Target="/ppt/slides/slide4.xml" Id="R9af02f8be96044f4" /><Relationship Type="http://schemas.openxmlformats.org/officeDocument/2006/relationships/slide" Target="/ppt/slides/slide5.xml" Id="Rf24359ac676b436f" /><Relationship Type="http://schemas.openxmlformats.org/officeDocument/2006/relationships/slide" Target="/ppt/slides/slide6.xml" Id="R38bccff75ede4e03" /><Relationship Type="http://schemas.openxmlformats.org/officeDocument/2006/relationships/slide" Target="/ppt/slides/slide7.xml" Id="R70ce311b87474429" /><Relationship Type="http://schemas.openxmlformats.org/officeDocument/2006/relationships/slide" Target="/ppt/slides/slide8.xml" Id="R7905daa8b9ab4529" /><Relationship Type="http://schemas.openxmlformats.org/officeDocument/2006/relationships/slide" Target="/ppt/slides/slide9.xml" Id="R085201ab33624708" /><Relationship Type="http://schemas.openxmlformats.org/officeDocument/2006/relationships/slide" Target="/ppt/slides/slide10.xml" Id="Re502477f29784365" /><Relationship Type="http://schemas.openxmlformats.org/officeDocument/2006/relationships/slide" Target="/ppt/slides/slide11.xml" Id="R3c4baa5d6ccf4f39" /><Relationship Type="http://schemas.openxmlformats.org/officeDocument/2006/relationships/slide" Target="/ppt/slides/slide12.xml" Id="Rc52f9573a13b4a66" /><Relationship Type="http://schemas.openxmlformats.org/officeDocument/2006/relationships/slide" Target="/ppt/slides/slide13.xml" Id="R676ce40219574d4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9eb4adf0b284c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9fcd19e35d4ef0" /><Relationship Type="http://schemas.openxmlformats.org/officeDocument/2006/relationships/notesMaster" Target="/ppt/notesMasters/notesMaster1.xml" Id="Rd1e85f2e266a46cc"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8b0356d3114f7f" /><Relationship Type="http://schemas.openxmlformats.org/officeDocument/2006/relationships/notesMaster" Target="/ppt/notesMasters/notesMaster1.xml" Id="R5021590913394b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ea551a05384262" /><Relationship Type="http://schemas.openxmlformats.org/officeDocument/2006/relationships/notesMaster" Target="/ppt/notesMasters/notesMaster1.xml" Id="Rb351ac8f799644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27e84daefb47b4" /><Relationship Type="http://schemas.openxmlformats.org/officeDocument/2006/relationships/notesMaster" Target="/ppt/notesMasters/notesMaster1.xml" Id="R1cee567f0e2b4b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3ff2fea1e64ed9" /><Relationship Type="http://schemas.openxmlformats.org/officeDocument/2006/relationships/notesMaster" Target="/ppt/notesMasters/notesMaster1.xml" Id="Rb9e9f3432c5e426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a1548d103984cde" /><Relationship Type="http://schemas.openxmlformats.org/officeDocument/2006/relationships/notesMaster" Target="/ppt/notesMasters/notesMaster1.xml" Id="R2237258fad8349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124ced25974196" /><Relationship Type="http://schemas.openxmlformats.org/officeDocument/2006/relationships/notesMaster" Target="/ppt/notesMasters/notesMaster1.xml" Id="Rdc848e7f36ea47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35156e8f242648c6" /><Relationship Type="http://schemas.openxmlformats.org/officeDocument/2006/relationships/notesMaster" Target="/ppt/notesMasters/notesMaster1.xml" Id="R3616c79c0a514b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39ba85f121ba4246" /><Relationship Type="http://schemas.openxmlformats.org/officeDocument/2006/relationships/notesMaster" Target="/ppt/notesMasters/notesMaster1.xml" Id="R529653adae5540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5d6569936b9459a" /><Relationship Type="http://schemas.openxmlformats.org/officeDocument/2006/relationships/notesMaster" Target="/ppt/notesMasters/notesMaster1.xml" Id="Rec043c3faa8b4ae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c805db33416495a" /><Relationship Type="http://schemas.openxmlformats.org/officeDocument/2006/relationships/notesMaster" Target="/ppt/notesMasters/notesMaster1.xml" Id="R9c38bbf0ec6b40b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721d353916d4146" /><Relationship Type="http://schemas.openxmlformats.org/officeDocument/2006/relationships/notesMaster" Target="/ppt/notesMasters/notesMaster1.xml" Id="Rb6478eb87b79420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be062104afb4a5f" /><Relationship Type="http://schemas.openxmlformats.org/officeDocument/2006/relationships/notesMaster" Target="/ppt/notesMasters/notesMaster1.xml" Id="Rd2eb0d1123084b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this as a retrofit audit of the existing MIRA MVP. The goal is not to claim that MIRA is already sustainable; it is to show where the architecture most likely wastes compute and how the team can prove improvement.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problem as operational discipline, not environmental decoration. MIRA’s useful outcome is valuable; the audit focuses on unnecessary work around that outcome. Cost and latency are useful operational signals, but they are not substitutes for measured energy or carbon.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same R across every component so calls, tokens, bytes, runtime and later carbon estimates can be compared per usable outcome. The first baseline boundary is intentionally practical. Exclusions must be disclosed rather than silently treated as zero.</a:t>
            </a:r>
          </a:p>
          <a:p xmlns:a="http://schemas.openxmlformats.org/drawingml/2006/main">
            <a:r>
              <a:t/>
            </a:r>
          </a:p>
          <a:p xmlns:a="http://schemas.openxmlformats.org/drawingml/2006/main">
            <a:r>
              <a:t>[Sources]</a:t>
            </a:r>
          </a:p>
          <a:p xmlns:a="http://schemas.openxmlformats.org/drawingml/2006/main">
            <a:r>
              <a:t>- https://sci.greensoftware.foundation/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ranking comes from the architecture and workload type, not from a power meter. Inference and image generation are placed first because they are variable compute steps; duplicate runs are emphasized because they create no additional user value. The next step is to instrument and test the ranking.</a:t>
            </a:r>
          </a:p>
          <a:p xmlns:a="http://schemas.openxmlformats.org/drawingml/2006/main">
            <a:r>
              <a:t/>
            </a:r>
          </a:p>
          <a:p xmlns:a="http://schemas.openxmlformats.org/drawingml/2006/main">
            <a:r>
              <a:t>[Sources]</a:t>
            </a:r>
          </a:p>
          <a:p xmlns:a="http://schemas.openxmlformats.org/drawingml/2006/main">
            <a:r>
              <a:t>- https://patterns.greensoftware.foundation/development/optimize-agent-orchestration-reduce-model-calls/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demonstrate honest framing. The evidence is strong enough to prioritize instrumentation and low-risk efficiency changes, but not strong enough to report grams of CO2e or claim a completed SCI calculation.</a:t>
            </a:r>
          </a:p>
          <a:p xmlns:a="http://schemas.openxmlformats.org/drawingml/2006/main">
            <a:r>
              <a:t/>
            </a:r>
          </a:p>
          <a:p xmlns:a="http://schemas.openxmlformats.org/drawingml/2006/main">
            <a:r>
              <a:t>[Sources]</a:t>
            </a:r>
          </a:p>
          <a:p xmlns:a="http://schemas.openxmlformats.org/drawingml/2006/main">
            <a:r>
              <a:t>- https://sci.greensoftware.foundation/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formula is a framing device here, not a computed score. Energy efficiency reduces E, carbon-aware execution can reduce I, hardware efficiency reduces the allocated M, and measurement makes the result comparable per R.</a:t>
            </a:r>
          </a:p>
          <a:p xmlns:a="http://schemas.openxmlformats.org/drawingml/2006/main">
            <a:r>
              <a:t/>
            </a:r>
          </a:p>
          <a:p xmlns:a="http://schemas.openxmlformats.org/drawingml/2006/main">
            <a:r>
              <a:t>[Sources]</a:t>
            </a:r>
          </a:p>
          <a:p xmlns:a="http://schemas.openxmlformats.org/drawingml/2006/main">
            <a:r>
              <a:t>- https://sci.greensoftware.foundation/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quick win because it removes work that produces no new value. The cache must be safe: include prompt/model version in the key and invalidate it when user input changes. Do not cache sensitive material beyond the retention policy.</a:t>
            </a:r>
          </a:p>
          <a:p xmlns:a="http://schemas.openxmlformats.org/drawingml/2006/main">
            <a:r>
              <a:t/>
            </a:r>
          </a:p>
          <a:p xmlns:a="http://schemas.openxmlformats.org/drawingml/2006/main">
            <a:r>
              <a:t>[Sources]</a:t>
            </a:r>
          </a:p>
          <a:p xmlns:a="http://schemas.openxmlformats.org/drawingml/2006/main">
            <a:r>
              <a:t>- https://patterns.greensoftware.foundation/development/optimize-agent-orchestration-reduce-model-calls/</a:t>
            </a:r>
          </a:p>
          <a:p xmlns:a="http://schemas.openxmlformats.org/drawingml/2006/main">
            <a:r>
              <a:t>- https://patterns.greensoftware.foundation/development/data-handling/cache-static-data/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Avoid a blind downgrade. Build a representative evaluation set from real MIRA inputs, score outputs with the same rubric, and route difficult cases upward. The larger model remains available when it adds measurable value.</a:t>
            </a:r>
          </a:p>
          <a:p xmlns:a="http://schemas.openxmlformats.org/drawingml/2006/main">
            <a:r>
              <a:t/>
            </a:r>
          </a:p>
          <a:p xmlns:a="http://schemas.openxmlformats.org/drawingml/2006/main">
            <a:r>
              <a:t>[Sources]</a:t>
            </a:r>
          </a:p>
          <a:p xmlns:a="http://schemas.openxmlformats.org/drawingml/2006/main">
            <a:r>
              <a:t>- https://patterns.greensoftware.foundation/development/right-sized-energy-efficient-ai-models/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staged fidelity: users first choose from lighter drafts, then MIRA produces final-resolution assets only for selections. Retention must align with privacy commitments and user expectations; deletion is also a data-minimization benefit.</a:t>
            </a:r>
          </a:p>
          <a:p xmlns:a="http://schemas.openxmlformats.org/drawingml/2006/main">
            <a:r>
              <a:t/>
            </a:r>
          </a:p>
          <a:p xmlns:a="http://schemas.openxmlformats.org/drawingml/2006/main">
            <a:r>
              <a:t>[Sources]</a:t>
            </a:r>
          </a:p>
          <a:p xmlns:a="http://schemas.openxmlformats.org/drawingml/2006/main">
            <a:r>
              <a:t>- https://patterns.greensoftware.foundation/development/media-and-code-efficiency/properly-sized-images</a:t>
            </a:r>
          </a:p>
          <a:p xmlns:a="http://schemas.openxmlformats.org/drawingml/2006/main">
            <a:r>
              <a:t>- https://patterns.greensoftware.foundation/development/media-and-code-efficiency/serve-images-in-modern-formats</a:t>
            </a:r>
          </a:p>
          <a:p xmlns:a="http://schemas.openxmlformats.org/drawingml/2006/main">
            <a:r>
              <a:t>- https://patterns.greensoftware.foundation/operations/resource-lifecycle/set-retention-policy-on-storage-resources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medium-to-strategic lever. Not every inference can be deferred and a low-carbon region may worsen latency, data transfers or legal constraints. Start with non-urgent jobs and development environments, then evaluate production.</a:t>
            </a:r>
          </a:p>
          <a:p xmlns:a="http://schemas.openxmlformats.org/drawingml/2006/main">
            <a:r>
              <a:t/>
            </a:r>
          </a:p>
          <a:p xmlns:a="http://schemas.openxmlformats.org/drawingml/2006/main">
            <a:r>
              <a:t>[Sources]</a:t>
            </a:r>
          </a:p>
          <a:p xmlns:a="http://schemas.openxmlformats.org/drawingml/2006/main">
            <a:r>
              <a:t>- https://patterns.greensoftware.foundation/operations/capacity-management/scale-down-unused-applications/</a:t>
            </a:r>
          </a:p>
          <a:p xmlns:a="http://schemas.openxmlformats.org/drawingml/2006/main">
            <a:r>
              <a:t>- https://patterns.greensoftware.foundation/operations/carbon-aware-ai-scheduling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thresholds are proposed acceptance criteria, not current performance. Use the same journey set, prompts, quality rubric and functional unit in both weeks. Add region/grid-intensity and provider energy or emissions data when available; until then, report operational metrics and their limitations.</a:t>
            </a:r>
          </a:p>
          <a:p xmlns:a="http://schemas.openxmlformats.org/drawingml/2006/main">
            <a:r>
              <a:t/>
            </a:r>
          </a:p>
          <a:p xmlns:a="http://schemas.openxmlformats.org/drawingml/2006/main">
            <a:r>
              <a:t>[Sources]</a:t>
            </a:r>
          </a:p>
          <a:p xmlns:a="http://schemas.openxmlformats.org/drawingml/2006/main">
            <a:r>
              <a:t>- https://sci.greensoftware.foundation/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SCI is designed around eliminating emissions through energy efficiency, carbon awareness and hardware efficiency. Neutralization or avoidance offsets do not reduce an SCI score. Report the boundary, method and unknowns alongside any result.</a:t>
            </a:r>
          </a:p>
          <a:p xmlns:a="http://schemas.openxmlformats.org/drawingml/2006/main">
            <a:r>
              <a:t/>
            </a:r>
          </a:p>
          <a:p xmlns:a="http://schemas.openxmlformats.org/drawingml/2006/main">
            <a:r>
              <a:t>[Sources]</a:t>
            </a:r>
          </a:p>
          <a:p xmlns:a="http://schemas.openxmlformats.org/drawingml/2006/main">
            <a:r>
              <a:t>- https://sci.greensoftware.foundation/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asking for a small, measurable experiment rather than a broad sustainability claim. The ranges are hypotheses to test; they should be replaced with observed results after the baseline and retrofit weeks. If quality falls or latency becomes unacceptable, revise or reject the change.</a:t>
            </a:r>
          </a:p>
          <a:p xmlns:a="http://schemas.openxmlformats.org/drawingml/2006/main">
            <a:r>
              <a:t/>
            </a:r>
          </a:p>
          <a:p xmlns:a="http://schemas.openxmlformats.org/drawingml/2006/main">
            <a:r>
              <a:t>[Sources]</a:t>
            </a:r>
          </a:p>
          <a:p xmlns:a="http://schemas.openxmlformats.org/drawingml/2006/main">
            <a:r>
              <a:t>- https://sci.greensoftware.foundation/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9282bd7acc42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dc79ffa89f4a08" /><Relationship Type="http://schemas.openxmlformats.org/officeDocument/2006/relationships/slideLayout" Target="/ppt/slideLayouts/slideLayout1.xml" Id="R76f77268261a4b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f77268261a4b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b8cd38143b4e3f" /><Relationship Type="http://schemas.openxmlformats.org/officeDocument/2006/relationships/notesSlide" Target="/ppt/notesSlides/notesSlide1.xml" Id="Re911137caf5a4b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c2f29101dd74074" /><Relationship Type="http://schemas.openxmlformats.org/officeDocument/2006/relationships/notesSlide" Target="/ppt/notesSlides/notesSlide2.xml" Id="Rd352cd12422d40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600a951dc0d4903" /><Relationship Type="http://schemas.openxmlformats.org/officeDocument/2006/relationships/notesSlide" Target="/ppt/notesSlides/notesSlide3.xml" Id="Ree007a9c7cfc4f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184449330ec42d3" /><Relationship Type="http://schemas.openxmlformats.org/officeDocument/2006/relationships/notesSlide" Target="/ppt/notesSlides/notesSlide4.xml" Id="Rf677ecfcabf340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c92b25a1aa5452a" /><Relationship Type="http://schemas.openxmlformats.org/officeDocument/2006/relationships/notesSlide" Target="/ppt/notesSlides/notesSlide5.xml" Id="R1d62d32d547a4ee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a52fa7865284454" /><Relationship Type="http://schemas.openxmlformats.org/officeDocument/2006/relationships/notesSlide" Target="/ppt/notesSlides/notesSlide6.xml" Id="R63f8120e329d40b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690e6f93f249da" /><Relationship Type="http://schemas.openxmlformats.org/officeDocument/2006/relationships/notesSlide" Target="/ppt/notesSlides/notesSlide7.xml" Id="Re6c112d3bf104ac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35560e6c55f4e40" /><Relationship Type="http://schemas.openxmlformats.org/officeDocument/2006/relationships/notesSlide" Target="/ppt/notesSlides/notesSlide8.xml" Id="R7702a3acd02345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4ec135a58f451a" /><Relationship Type="http://schemas.openxmlformats.org/officeDocument/2006/relationships/notesSlide" Target="/ppt/notesSlides/notesSlide9.xml" Id="Raa5df9a2d113412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b87bb1d2db743a2" /><Relationship Type="http://schemas.openxmlformats.org/officeDocument/2006/relationships/notesSlide" Target="/ppt/notesSlides/notesSlide10.xml" Id="R2f8b0814bc384b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4b261d0140d4596" /><Relationship Type="http://schemas.openxmlformats.org/officeDocument/2006/relationships/notesSlide" Target="/ppt/notesSlides/notesSlide11.xml" Id="R841e254110454a4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4b638153b1427b" /><Relationship Type="http://schemas.openxmlformats.org/officeDocument/2006/relationships/notesSlide" Target="/ppt/notesSlides/notesSlide12.xml" Id="R2efa847bca0342b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94ce09dc93f438f" /><Relationship Type="http://schemas.openxmlformats.org/officeDocument/2006/relationships/notesSlide" Target="/ppt/notesSlides/notesSlide13.xml" Id="R3026914bc5a8428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48-36">
            <a:extLst xmlns:a="http://schemas.openxmlformats.org/drawingml/2006/main">
              <a:ext uri="{FF2B5EF4-FFF2-40B4-BE49-F238E27FC236}">
                <a16:creationId xmlns:a16="http://schemas.microsoft.com/office/drawing/2014/main" id="{8CA45628-8F85-46D0-B81C-8720DA031745}"/>
              </a:ext>
            </a:extLst>
          </p:cNvPr>
          <p:cNvSpPr>
            <a:spLocks xmlns:a="http://schemas.openxmlformats.org/drawingml/2006/main" noGrp="1"/>
          </p:cNvSpPr>
          <p:nvPr/>
        </p:nvSpPr>
        <p:spPr>
          <a:xfrm xmlns:a="http://schemas.openxmlformats.org/drawingml/2006/main">
            <a:off x="457200" y="342900"/>
            <a:ext cx="581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173B28"/>
                </a:solidFill>
              </a:defRPr>
            </a:pPr>
            <a:r>
              <a:rPr sz="1050" b="1" i="0">
                <a:solidFill>
                  <a:srgbClr val="173B28"/>
                </a:solidFill>
              </a:rPr>
              <a:t>GREEN SOFTWARE &amp; SUSTAINABLE AI</a:t>
            </a:r>
          </a:p>
        </p:txBody>
      </p:sp>
      <p:sp>
        <p:nvSpPr>
          <p:cNvPr id="2" name="green-edge">
            <a:extLst xmlns:a="http://schemas.openxmlformats.org/drawingml/2006/main">
              <a:ext uri="{FF2B5EF4-FFF2-40B4-BE49-F238E27FC236}">
                <a16:creationId xmlns:a16="http://schemas.microsoft.com/office/drawing/2014/main" id="{50B730D4-4BC8-4EFA-9506-82893C3A0C1F}"/>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4E9D6E"/>
          </a:solidFill>
          <a:ln xmlns:a="http://schemas.openxmlformats.org/drawingml/2006/main" w="0">
            <a:solidFill>
              <a:srgbClr val="4E9D6E"/>
            </a:solidFill>
            <a:prstDash val="solid"/>
          </a:ln>
        </p:spPr>
      </p:sp>
      <p:sp>
        <p:nvSpPr>
          <p:cNvPr id="3" name="text-48-170">
            <a:extLst xmlns:a="http://schemas.openxmlformats.org/drawingml/2006/main">
              <a:ext uri="{FF2B5EF4-FFF2-40B4-BE49-F238E27FC236}">
                <a16:creationId xmlns:a16="http://schemas.microsoft.com/office/drawing/2014/main" id="{0825F558-AC4E-41F5-B2D7-47C3155D92ED}"/>
              </a:ext>
            </a:extLst>
          </p:cNvPr>
          <p:cNvSpPr>
            <a:spLocks xmlns:a="http://schemas.openxmlformats.org/drawingml/2006/main" noGrp="1"/>
          </p:cNvSpPr>
          <p:nvPr/>
        </p:nvSpPr>
        <p:spPr>
          <a:xfrm xmlns:a="http://schemas.openxmlformats.org/drawingml/2006/main">
            <a:off x="457200" y="1619250"/>
            <a:ext cx="857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5400" b="1" i="0">
                <a:solidFill>
                  <a:srgbClr val="101412"/>
                </a:solidFill>
              </a:defRPr>
            </a:pPr>
            <a:r>
              <a:rPr sz="5400" b="1" i="0">
                <a:solidFill>
                  <a:srgbClr val="101412"/>
                </a:solidFill>
              </a:rPr>
              <a:t>MIRA’s carbon story</a:t>
            </a:r>
          </a:p>
        </p:txBody>
      </p:sp>
      <p:sp>
        <p:nvSpPr>
          <p:cNvPr id="4" name="text-48-285">
            <a:extLst xmlns:a="http://schemas.openxmlformats.org/drawingml/2006/main">
              <a:ext uri="{FF2B5EF4-FFF2-40B4-BE49-F238E27FC236}">
                <a16:creationId xmlns:a16="http://schemas.microsoft.com/office/drawing/2014/main" id="{2ED8E0AA-DE87-4343-AF7D-BC364D1F8B75}"/>
              </a:ext>
            </a:extLst>
          </p:cNvPr>
          <p:cNvSpPr>
            <a:spLocks xmlns:a="http://schemas.openxmlformats.org/drawingml/2006/main" noGrp="1"/>
          </p:cNvSpPr>
          <p:nvPr/>
        </p:nvSpPr>
        <p:spPr>
          <a:xfrm xmlns:a="http://schemas.openxmlformats.org/drawingml/2006/main">
            <a:off x="457200" y="2714625"/>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325" b="0" i="0">
                <a:solidFill>
                  <a:srgbClr val="53605A"/>
                </a:solidFill>
              </a:defRPr>
            </a:pPr>
            <a:r>
              <a:rPr sz="2325" b="0" i="0">
                <a:solidFill>
                  <a:srgbClr val="53605A"/>
                </a:solidFill>
              </a:rPr>
              <a:t>A defensible green retrofit audit</a:t>
            </a:r>
          </a:p>
        </p:txBody>
      </p:sp>
      <p:cxnSp>
        <p:nvCxnSpPr>
          <p:cNvPr id="12" name="rule-48-385"/>
          <p:cNvCxnSpPr/>
          <p:nvPr/>
        </p:nvCxnSpPr>
        <p:spPr>
          <a:xfrm xmlns:a="http://schemas.openxmlformats.org/drawingml/2006/main">
            <a:off x="457200" y="3667125"/>
            <a:ext cx="4476750" cy="95"/>
          </a:xfrm>
          <a:prstGeom xmlns:a="http://schemas.openxmlformats.org/drawingml/2006/main" prst="straightConnector1">
            <a:avLst/>
          </a:prstGeom>
          <a:ln xmlns:a="http://schemas.openxmlformats.org/drawingml/2006/main" w="47625">
            <a:solidFill>
              <a:srgbClr val="4E9D6E"/>
            </a:solidFill>
            <a:prstDash val="solid"/>
          </a:ln>
        </p:spPr>
      </p:cxnSp>
      <p:sp>
        <p:nvSpPr>
          <p:cNvPr id="6" name="text-48-425">
            <a:extLst xmlns:a="http://schemas.openxmlformats.org/drawingml/2006/main">
              <a:ext uri="{FF2B5EF4-FFF2-40B4-BE49-F238E27FC236}">
                <a16:creationId xmlns:a16="http://schemas.microsoft.com/office/drawing/2014/main" id="{B55DD0BF-0012-4DA6-B402-65B5D3B26A03}"/>
              </a:ext>
            </a:extLst>
          </p:cNvPr>
          <p:cNvSpPr>
            <a:spLocks xmlns:a="http://schemas.openxmlformats.org/drawingml/2006/main" noGrp="1"/>
          </p:cNvSpPr>
          <p:nvPr/>
        </p:nvSpPr>
        <p:spPr>
          <a:xfrm xmlns:a="http://schemas.openxmlformats.org/drawingml/2006/main">
            <a:off x="457200" y="4048125"/>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73B28"/>
                </a:solidFill>
              </a:defRPr>
            </a:pPr>
            <a:r>
              <a:rPr sz="1350" b="1" i="0">
                <a:solidFill>
                  <a:srgbClr val="173B28"/>
                </a:solidFill>
              </a:rPr>
              <a:t>PATH B · Existing MIRA MVP</a:t>
            </a:r>
          </a:p>
        </p:txBody>
      </p:sp>
      <p:sp>
        <p:nvSpPr>
          <p:cNvPr id="7" name="text-48-635">
            <a:extLst xmlns:a="http://schemas.openxmlformats.org/drawingml/2006/main">
              <a:ext uri="{FF2B5EF4-FFF2-40B4-BE49-F238E27FC236}">
                <a16:creationId xmlns:a16="http://schemas.microsoft.com/office/drawing/2014/main" id="{2911727E-9318-43BF-A176-FCEF683BE9D5}"/>
              </a:ext>
            </a:extLst>
          </p:cNvPr>
          <p:cNvSpPr>
            <a:spLocks xmlns:a="http://schemas.openxmlformats.org/drawingml/2006/main" noGrp="1"/>
          </p:cNvSpPr>
          <p:nvPr/>
        </p:nvSpPr>
        <p:spPr>
          <a:xfrm xmlns:a="http://schemas.openxmlformats.org/drawingml/2006/main">
            <a:off x="457200" y="6048375"/>
            <a:ext cx="723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Elza Paegle · Ironhack AI Consulting Bootcamp · August 2026</a:t>
            </a:r>
          </a:p>
        </p:txBody>
      </p:sp>
    </p:spTree>
    <p:extLst>
      <p:ext uri="{BB962C8B-B14F-4D97-AF65-F5344CB8AC3E}">
        <p14:creationId xmlns:p14="http://schemas.microsoft.com/office/powerpoint/2010/main" val="45715786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48-26">
            <a:extLst xmlns:a="http://schemas.openxmlformats.org/drawingml/2006/main">
              <a:ext uri="{FF2B5EF4-FFF2-40B4-BE49-F238E27FC236}">
                <a16:creationId xmlns:a16="http://schemas.microsoft.com/office/drawing/2014/main" id="{73B95C78-410C-408A-B8D0-59BBCC12CA81}"/>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MIRA · PATH B GREEN RETROFIT</a:t>
            </a:r>
          </a:p>
        </p:txBody>
      </p:sp>
      <p:sp>
        <p:nvSpPr>
          <p:cNvPr id="2" name="text-48-56">
            <a:extLst xmlns:a="http://schemas.openxmlformats.org/drawingml/2006/main">
              <a:ext uri="{FF2B5EF4-FFF2-40B4-BE49-F238E27FC236}">
                <a16:creationId xmlns:a16="http://schemas.microsoft.com/office/drawing/2014/main" id="{B8108E87-AC26-4FB2-8786-09065C84BD3F}"/>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One valuable run can trigger avoidable work on every retry</a:t>
            </a:r>
          </a:p>
        </p:txBody>
      </p:sp>
      <p:cxnSp>
        <p:nvCxnSpPr>
          <p:cNvPr id="20"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30F5ED89-AE32-427D-A1C1-CB2C89CFBF91}"/>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01</a:t>
            </a:r>
          </a:p>
        </p:txBody>
      </p:sp>
      <p:sp>
        <p:nvSpPr>
          <p:cNvPr id="5" name="text-48-160">
            <a:extLst xmlns:a="http://schemas.openxmlformats.org/drawingml/2006/main">
              <a:ext uri="{FF2B5EF4-FFF2-40B4-BE49-F238E27FC236}">
                <a16:creationId xmlns:a16="http://schemas.microsoft.com/office/drawing/2014/main" id="{74044084-F32F-4345-B638-BE7F28AF5161}"/>
              </a:ext>
            </a:extLst>
          </p:cNvPr>
          <p:cNvSpPr>
            <a:spLocks xmlns:a="http://schemas.openxmlformats.org/drawingml/2006/main" noGrp="1"/>
          </p:cNvSpPr>
          <p:nvPr/>
        </p:nvSpPr>
        <p:spPr>
          <a:xfrm xmlns:a="http://schemas.openxmlformats.org/drawingml/2006/main">
            <a:off x="457200" y="1524000"/>
            <a:ext cx="6286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086"/>
          </a:bodyPr>
          <a:lstStyle xmlns:a="http://schemas.openxmlformats.org/drawingml/2006/main"/>
          <a:p xmlns:a="http://schemas.openxmlformats.org/drawingml/2006/main">
            <a:pPr algn="l">
              <a:defRPr sz="2325" b="1" i="0">
                <a:solidFill>
                  <a:srgbClr val="101412"/>
                </a:solidFill>
              </a:defRPr>
            </a:pPr>
            <a:r>
              <a:rPr sz="2325" b="1" i="0">
                <a:solidFill>
                  <a:srgbClr val="101412"/>
                </a:solidFill>
              </a:rPr>
              <a:t>Questionnaire → AI synthesis → shoot plan + moodboard</a:t>
            </a:r>
          </a:p>
        </p:txBody>
      </p:sp>
      <p:sp>
        <p:nvSpPr>
          <p:cNvPr id="6" name="text-48-250">
            <a:extLst xmlns:a="http://schemas.openxmlformats.org/drawingml/2006/main">
              <a:ext uri="{FF2B5EF4-FFF2-40B4-BE49-F238E27FC236}">
                <a16:creationId xmlns:a16="http://schemas.microsoft.com/office/drawing/2014/main" id="{E210C19D-CE46-451A-B56E-B4FC6F2E53FC}"/>
              </a:ext>
            </a:extLst>
          </p:cNvPr>
          <p:cNvSpPr>
            <a:spLocks xmlns:a="http://schemas.openxmlformats.org/drawingml/2006/main" noGrp="1"/>
          </p:cNvSpPr>
          <p:nvPr/>
        </p:nvSpPr>
        <p:spPr>
          <a:xfrm xmlns:a="http://schemas.openxmlformats.org/drawingml/2006/main">
            <a:off x="457200" y="2381250"/>
            <a:ext cx="6191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53605A"/>
                </a:solidFill>
              </a:defRPr>
            </a:pPr>
            <a:r>
              <a:rPr sz="1650" b="0" i="0">
                <a:solidFill>
                  <a:srgbClr val="53605A"/>
                </a:solidFill>
              </a:rPr>
              <a:t>A useful output can replace hours of fragmented planning. But repeated model calls, unused image variants and always-on services can make each revision more expensive than it needs to be.</a:t>
            </a:r>
          </a:p>
        </p:txBody>
      </p:sp>
      <p:sp>
        <p:nvSpPr>
          <p:cNvPr id="7" name="text-48-520">
            <a:extLst xmlns:a="http://schemas.openxmlformats.org/drawingml/2006/main">
              <a:ext uri="{FF2B5EF4-FFF2-40B4-BE49-F238E27FC236}">
                <a16:creationId xmlns:a16="http://schemas.microsoft.com/office/drawing/2014/main" id="{C36AFC4C-3E5A-4DDC-B72E-7E77349703C8}"/>
              </a:ext>
            </a:extLst>
          </p:cNvPr>
          <p:cNvSpPr>
            <a:spLocks xmlns:a="http://schemas.openxmlformats.org/drawingml/2006/main" noGrp="1"/>
          </p:cNvSpPr>
          <p:nvPr/>
        </p:nvSpPr>
        <p:spPr>
          <a:xfrm xmlns:a="http://schemas.openxmlformats.org/drawingml/2006/main">
            <a:off x="457200" y="495300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173B28"/>
                </a:solidFill>
              </a:defRPr>
            </a:pPr>
            <a:r>
              <a:rPr sz="1275" b="1" i="0">
                <a:solidFill>
                  <a:srgbClr val="173B28"/>
                </a:solidFill>
              </a:rPr>
              <a:t>Primary audience: MIRA product &amp; technical lead</a:t>
            </a:r>
          </a:p>
        </p:txBody>
      </p:sp>
      <p:cxnSp>
        <p:nvCxnSpPr>
          <p:cNvPr id="25" name="vrule-770-165"/>
          <p:cNvCxnSpPr/>
          <p:nvPr/>
        </p:nvCxnSpPr>
        <p:spPr>
          <a:xfrm xmlns:a="http://schemas.openxmlformats.org/drawingml/2006/main">
            <a:off x="7334250" y="1571625"/>
            <a:ext cx="95" cy="3857625"/>
          </a:xfrm>
          <a:prstGeom xmlns:a="http://schemas.openxmlformats.org/drawingml/2006/main" prst="straightConnector1">
            <a:avLst/>
          </a:prstGeom>
          <a:ln xmlns:a="http://schemas.openxmlformats.org/drawingml/2006/main" w="9525">
            <a:solidFill>
              <a:srgbClr val="B8C0BA"/>
            </a:solidFill>
            <a:prstDash val="solid"/>
          </a:ln>
        </p:spPr>
      </p:cxnSp>
      <p:sp>
        <p:nvSpPr>
          <p:cNvPr id="9" name="text-820-170">
            <a:extLst xmlns:a="http://schemas.openxmlformats.org/drawingml/2006/main">
              <a:ext uri="{FF2B5EF4-FFF2-40B4-BE49-F238E27FC236}">
                <a16:creationId xmlns:a16="http://schemas.microsoft.com/office/drawing/2014/main" id="{542F9F69-FA12-4041-97F3-7CF5A0F2F5C8}"/>
              </a:ext>
            </a:extLst>
          </p:cNvPr>
          <p:cNvSpPr>
            <a:spLocks xmlns:a="http://schemas.openxmlformats.org/drawingml/2006/main" noGrp="1"/>
          </p:cNvSpPr>
          <p:nvPr/>
        </p:nvSpPr>
        <p:spPr>
          <a:xfrm xmlns:a="http://schemas.openxmlformats.org/drawingml/2006/main">
            <a:off x="7810500" y="16192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4E9D6E"/>
                </a:solidFill>
              </a:defRPr>
            </a:pPr>
            <a:r>
              <a:rPr sz="1275" b="1" i="0">
                <a:solidFill>
                  <a:srgbClr val="4E9D6E"/>
                </a:solidFill>
              </a:rPr>
              <a:t>COST</a:t>
            </a:r>
          </a:p>
        </p:txBody>
      </p:sp>
      <p:sp>
        <p:nvSpPr>
          <p:cNvPr id="10" name="text-820-208">
            <a:extLst xmlns:a="http://schemas.openxmlformats.org/drawingml/2006/main">
              <a:ext uri="{FF2B5EF4-FFF2-40B4-BE49-F238E27FC236}">
                <a16:creationId xmlns:a16="http://schemas.microsoft.com/office/drawing/2014/main" id="{D799F1C6-FB0D-4D60-90BE-FABEAAF36003}"/>
              </a:ext>
            </a:extLst>
          </p:cNvPr>
          <p:cNvSpPr>
            <a:spLocks xmlns:a="http://schemas.openxmlformats.org/drawingml/2006/main" noGrp="1"/>
          </p:cNvSpPr>
          <p:nvPr/>
        </p:nvSpPr>
        <p:spPr>
          <a:xfrm xmlns:a="http://schemas.openxmlformats.org/drawingml/2006/main">
            <a:off x="7810500" y="1981200"/>
            <a:ext cx="342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Fewer duplicate calls and smaller payloads</a:t>
            </a:r>
          </a:p>
        </p:txBody>
      </p:sp>
      <p:cxnSp>
        <p:nvCxnSpPr>
          <p:cNvPr id="28" name="rule-820-282"/>
          <p:cNvCxnSpPr/>
          <p:nvPr/>
        </p:nvCxnSpPr>
        <p:spPr>
          <a:xfrm xmlns:a="http://schemas.openxmlformats.org/drawingml/2006/main">
            <a:off x="7810500" y="2686050"/>
            <a:ext cx="3429000" cy="95"/>
          </a:xfrm>
          <a:prstGeom xmlns:a="http://schemas.openxmlformats.org/drawingml/2006/main" prst="straightConnector1">
            <a:avLst/>
          </a:prstGeom>
          <a:ln xmlns:a="http://schemas.openxmlformats.org/drawingml/2006/main" w="9525">
            <a:solidFill>
              <a:srgbClr val="B8C0BA"/>
            </a:solidFill>
            <a:prstDash val="solid"/>
          </a:ln>
        </p:spPr>
      </p:cxnSp>
      <p:sp>
        <p:nvSpPr>
          <p:cNvPr id="12" name="text-820-305">
            <a:extLst xmlns:a="http://schemas.openxmlformats.org/drawingml/2006/main">
              <a:ext uri="{FF2B5EF4-FFF2-40B4-BE49-F238E27FC236}">
                <a16:creationId xmlns:a16="http://schemas.microsoft.com/office/drawing/2014/main" id="{2EB0B535-A9FB-485E-8C38-FD52913687D1}"/>
              </a:ext>
            </a:extLst>
          </p:cNvPr>
          <p:cNvSpPr>
            <a:spLocks xmlns:a="http://schemas.openxmlformats.org/drawingml/2006/main" noGrp="1"/>
          </p:cNvSpPr>
          <p:nvPr/>
        </p:nvSpPr>
        <p:spPr>
          <a:xfrm xmlns:a="http://schemas.openxmlformats.org/drawingml/2006/main">
            <a:off x="7810500" y="29051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4E9D6E"/>
                </a:solidFill>
              </a:defRPr>
            </a:pPr>
            <a:r>
              <a:rPr sz="1275" b="1" i="0">
                <a:solidFill>
                  <a:srgbClr val="4E9D6E"/>
                </a:solidFill>
              </a:rPr>
              <a:t>LATENCY</a:t>
            </a:r>
          </a:p>
        </p:txBody>
      </p:sp>
      <p:sp>
        <p:nvSpPr>
          <p:cNvPr id="13" name="text-820-343">
            <a:extLst xmlns:a="http://schemas.openxmlformats.org/drawingml/2006/main">
              <a:ext uri="{FF2B5EF4-FFF2-40B4-BE49-F238E27FC236}">
                <a16:creationId xmlns:a16="http://schemas.microsoft.com/office/drawing/2014/main" id="{04D0D52B-09AF-47A1-B81F-5C2A5EB6B562}"/>
              </a:ext>
            </a:extLst>
          </p:cNvPr>
          <p:cNvSpPr>
            <a:spLocks xmlns:a="http://schemas.openxmlformats.org/drawingml/2006/main" noGrp="1"/>
          </p:cNvSpPr>
          <p:nvPr/>
        </p:nvSpPr>
        <p:spPr>
          <a:xfrm xmlns:a="http://schemas.openxmlformats.org/drawingml/2006/main">
            <a:off x="7810500" y="3267075"/>
            <a:ext cx="342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Less rework and faster useful results</a:t>
            </a:r>
          </a:p>
        </p:txBody>
      </p:sp>
      <p:cxnSp>
        <p:nvCxnSpPr>
          <p:cNvPr id="31" name="rule-820-417"/>
          <p:cNvCxnSpPr/>
          <p:nvPr/>
        </p:nvCxnSpPr>
        <p:spPr>
          <a:xfrm xmlns:a="http://schemas.openxmlformats.org/drawingml/2006/main">
            <a:off x="7810500" y="3971925"/>
            <a:ext cx="3429000" cy="95"/>
          </a:xfrm>
          <a:prstGeom xmlns:a="http://schemas.openxmlformats.org/drawingml/2006/main" prst="straightConnector1">
            <a:avLst/>
          </a:prstGeom>
          <a:ln xmlns:a="http://schemas.openxmlformats.org/drawingml/2006/main" w="9525">
            <a:solidFill>
              <a:srgbClr val="B8C0BA"/>
            </a:solidFill>
            <a:prstDash val="solid"/>
          </a:ln>
        </p:spPr>
      </p:cxnSp>
      <p:sp>
        <p:nvSpPr>
          <p:cNvPr id="15" name="text-820-440">
            <a:extLst xmlns:a="http://schemas.openxmlformats.org/drawingml/2006/main">
              <a:ext uri="{FF2B5EF4-FFF2-40B4-BE49-F238E27FC236}">
                <a16:creationId xmlns:a16="http://schemas.microsoft.com/office/drawing/2014/main" id="{D5C471BB-4CFF-494C-BAC8-1F82ADE8052B}"/>
              </a:ext>
            </a:extLst>
          </p:cNvPr>
          <p:cNvSpPr>
            <a:spLocks xmlns:a="http://schemas.openxmlformats.org/drawingml/2006/main" noGrp="1"/>
          </p:cNvSpPr>
          <p:nvPr/>
        </p:nvSpPr>
        <p:spPr>
          <a:xfrm xmlns:a="http://schemas.openxmlformats.org/drawingml/2006/main">
            <a:off x="7810500" y="4191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4E9D6E"/>
                </a:solidFill>
              </a:defRPr>
            </a:pPr>
            <a:r>
              <a:rPr sz="1275" b="1" i="0">
                <a:solidFill>
                  <a:srgbClr val="4E9D6E"/>
                </a:solidFill>
              </a:rPr>
              <a:t>TRUST</a:t>
            </a:r>
          </a:p>
        </p:txBody>
      </p:sp>
      <p:sp>
        <p:nvSpPr>
          <p:cNvPr id="16" name="text-820-478">
            <a:extLst xmlns:a="http://schemas.openxmlformats.org/drawingml/2006/main">
              <a:ext uri="{FF2B5EF4-FFF2-40B4-BE49-F238E27FC236}">
                <a16:creationId xmlns:a16="http://schemas.microsoft.com/office/drawing/2014/main" id="{CD61E4A1-461E-4D45-8BE6-B38EFB9C3AA0}"/>
              </a:ext>
            </a:extLst>
          </p:cNvPr>
          <p:cNvSpPr>
            <a:spLocks xmlns:a="http://schemas.openxmlformats.org/drawingml/2006/main" noGrp="1"/>
          </p:cNvSpPr>
          <p:nvPr/>
        </p:nvSpPr>
        <p:spPr>
          <a:xfrm xmlns:a="http://schemas.openxmlformats.org/drawingml/2006/main">
            <a:off x="7810500" y="4552950"/>
            <a:ext cx="342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Evidence-based claims without greenwashing</a:t>
            </a:r>
          </a:p>
        </p:txBody>
      </p:sp>
      <p:sp>
        <p:nvSpPr>
          <p:cNvPr id="17" name="text-48-603">
            <a:extLst xmlns:a="http://schemas.openxmlformats.org/drawingml/2006/main">
              <a:ext uri="{FF2B5EF4-FFF2-40B4-BE49-F238E27FC236}">
                <a16:creationId xmlns:a16="http://schemas.microsoft.com/office/drawing/2014/main" id="{5C4F7A1E-0DC7-4F52-8383-FB033E64C169}"/>
              </a:ext>
            </a:extLst>
          </p:cNvPr>
          <p:cNvSpPr>
            <a:spLocks xmlns:a="http://schemas.openxmlformats.org/drawingml/2006/main" noGrp="1"/>
          </p:cNvSpPr>
          <p:nvPr/>
        </p:nvSpPr>
        <p:spPr>
          <a:xfrm xmlns:a="http://schemas.openxmlformats.org/drawingml/2006/main">
            <a:off x="457200" y="5743575"/>
            <a:ext cx="1076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1">
                <a:solidFill>
                  <a:srgbClr val="173B28"/>
                </a:solidFill>
              </a:defRPr>
            </a:pPr>
            <a:r>
              <a:rPr sz="1425" b="0" i="1">
                <a:solidFill>
                  <a:srgbClr val="173B28"/>
                </a:solidFill>
              </a:rPr>
              <a:t>The business case and the carbon case begin with the same question: how much work does MIRA do per usable outcome?</a:t>
            </a:r>
          </a:p>
        </p:txBody>
      </p:sp>
    </p:spTree>
    <p:extLst>
      <p:ext uri="{BB962C8B-B14F-4D97-AF65-F5344CB8AC3E}">
        <p14:creationId xmlns:p14="http://schemas.microsoft.com/office/powerpoint/2010/main" val="32370016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text-48-26">
            <a:extLst xmlns:a="http://schemas.openxmlformats.org/drawingml/2006/main">
              <a:ext uri="{FF2B5EF4-FFF2-40B4-BE49-F238E27FC236}">
                <a16:creationId xmlns:a16="http://schemas.microsoft.com/office/drawing/2014/main" id="{E374A3DB-3E0C-4285-813B-6FE9F5807847}"/>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SCI-STYLE FUNCTIONAL UNIT</a:t>
            </a:r>
          </a:p>
        </p:txBody>
      </p:sp>
      <p:sp>
        <p:nvSpPr>
          <p:cNvPr id="2" name="text-48-56">
            <a:extLst xmlns:a="http://schemas.openxmlformats.org/drawingml/2006/main">
              <a:ext uri="{FF2B5EF4-FFF2-40B4-BE49-F238E27FC236}">
                <a16:creationId xmlns:a16="http://schemas.microsoft.com/office/drawing/2014/main" id="{AF88144B-41E2-4903-85A9-459BE5ED42BB}"/>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491"/>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One unit of value is one usable photoshoot plan and moodboard</a:t>
            </a:r>
          </a:p>
        </p:txBody>
      </p:sp>
      <p:cxnSp>
        <p:nvCxnSpPr>
          <p:cNvPr id="32"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9898B757-B780-4646-B0F2-39695A0D7300}"/>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02</a:t>
            </a:r>
          </a:p>
        </p:txBody>
      </p:sp>
      <p:sp>
        <p:nvSpPr>
          <p:cNvPr id="5" name="r-circle">
            <a:extLst xmlns:a="http://schemas.openxmlformats.org/drawingml/2006/main">
              <a:ext uri="{FF2B5EF4-FFF2-40B4-BE49-F238E27FC236}">
                <a16:creationId xmlns:a16="http://schemas.microsoft.com/office/drawing/2014/main" id="{2F2CBBB1-7918-4201-8C4B-ACA8477883EB}"/>
              </a:ext>
            </a:extLst>
          </p:cNvPr>
          <p:cNvSpPr>
            <a:spLocks xmlns:a="http://schemas.openxmlformats.org/drawingml/2006/main" noGrp="1"/>
          </p:cNvSpPr>
          <p:nvPr/>
        </p:nvSpPr>
        <p:spPr>
          <a:xfrm xmlns:a="http://schemas.openxmlformats.org/drawingml/2006/main">
            <a:off x="714375" y="1809750"/>
            <a:ext cx="2381250" cy="2381250"/>
          </a:xfrm>
          <a:prstGeom xmlns:a="http://schemas.openxmlformats.org/drawingml/2006/main" prst="ellipse">
            <a:avLst/>
          </a:prstGeom>
          <a:solidFill xmlns:a="http://schemas.openxmlformats.org/drawingml/2006/main">
            <a:srgbClr val="173B28"/>
          </a:solidFill>
          <a:ln xmlns:a="http://schemas.openxmlformats.org/drawingml/2006/main" w="0">
            <a:solidFill>
              <a:srgbClr val="173B28"/>
            </a:solidFill>
            <a:prstDash val="solid"/>
          </a:ln>
        </p:spPr>
      </p:sp>
      <p:sp>
        <p:nvSpPr>
          <p:cNvPr id="6" name="text-75-216">
            <a:extLst xmlns:a="http://schemas.openxmlformats.org/drawingml/2006/main">
              <a:ext uri="{FF2B5EF4-FFF2-40B4-BE49-F238E27FC236}">
                <a16:creationId xmlns:a16="http://schemas.microsoft.com/office/drawing/2014/main" id="{5F6AE097-D141-4A2E-86E6-9EC6E68DA651}"/>
              </a:ext>
            </a:extLst>
          </p:cNvPr>
          <p:cNvSpPr>
            <a:spLocks xmlns:a="http://schemas.openxmlformats.org/drawingml/2006/main" noGrp="1"/>
          </p:cNvSpPr>
          <p:nvPr/>
        </p:nvSpPr>
        <p:spPr>
          <a:xfrm xmlns:a="http://schemas.openxmlformats.org/drawingml/2006/main">
            <a:off x="714375" y="2057400"/>
            <a:ext cx="2381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486"/>
          </a:bodyPr>
          <a:lstStyle xmlns:a="http://schemas.openxmlformats.org/drawingml/2006/main"/>
          <a:p xmlns:a="http://schemas.openxmlformats.org/drawingml/2006/main">
            <a:pPr algn="ctr">
              <a:defRPr sz="7200" b="1" i="0">
                <a:solidFill>
                  <a:srgbClr val="FFFFFF"/>
                </a:solidFill>
              </a:defRPr>
            </a:pPr>
            <a:r>
              <a:rPr sz="7200" b="1" i="0">
                <a:solidFill>
                  <a:srgbClr val="FFFFFF"/>
                </a:solidFill>
              </a:rPr>
              <a:t>R</a:t>
            </a:r>
          </a:p>
        </p:txBody>
      </p:sp>
      <p:sp>
        <p:nvSpPr>
          <p:cNvPr id="7" name="text-95-340">
            <a:extLst xmlns:a="http://schemas.openxmlformats.org/drawingml/2006/main">
              <a:ext uri="{FF2B5EF4-FFF2-40B4-BE49-F238E27FC236}">
                <a16:creationId xmlns:a16="http://schemas.microsoft.com/office/drawing/2014/main" id="{0027CC03-8387-4FA6-A0B4-E012D3D0EF00}"/>
              </a:ext>
            </a:extLst>
          </p:cNvPr>
          <p:cNvSpPr>
            <a:spLocks xmlns:a="http://schemas.openxmlformats.org/drawingml/2006/main" noGrp="1"/>
          </p:cNvSpPr>
          <p:nvPr/>
        </p:nvSpPr>
        <p:spPr>
          <a:xfrm xmlns:a="http://schemas.openxmlformats.org/drawingml/2006/main">
            <a:off x="904875" y="3238500"/>
            <a:ext cx="2000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i="0">
                <a:solidFill>
                  <a:srgbClr val="FFFFFF"/>
                </a:solidFill>
              </a:defRPr>
            </a:pPr>
            <a:r>
              <a:rPr sz="1575" b="1" i="0">
                <a:solidFill>
                  <a:srgbClr val="FFFFFF"/>
                </a:solidFill>
              </a:rPr>
              <a:t>1 completed user journey</a:t>
            </a:r>
          </a:p>
        </p:txBody>
      </p:sp>
      <p:sp>
        <p:nvSpPr>
          <p:cNvPr id="8" name="text-65-475">
            <a:extLst xmlns:a="http://schemas.openxmlformats.org/drawingml/2006/main">
              <a:ext uri="{FF2B5EF4-FFF2-40B4-BE49-F238E27FC236}">
                <a16:creationId xmlns:a16="http://schemas.microsoft.com/office/drawing/2014/main" id="{0B0481CC-BD86-46BE-B7FB-C46F2E85B141}"/>
              </a:ext>
            </a:extLst>
          </p:cNvPr>
          <p:cNvSpPr>
            <a:spLocks xmlns:a="http://schemas.openxmlformats.org/drawingml/2006/main" noGrp="1"/>
          </p:cNvSpPr>
          <p:nvPr/>
        </p:nvSpPr>
        <p:spPr>
          <a:xfrm xmlns:a="http://schemas.openxmlformats.org/drawingml/2006/main">
            <a:off x="619125" y="4524375"/>
            <a:ext cx="257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i="0">
                <a:solidFill>
                  <a:srgbClr val="53605A"/>
                </a:solidFill>
              </a:defRPr>
            </a:pPr>
            <a:r>
              <a:rPr sz="1350" b="0" i="0">
                <a:solidFill>
                  <a:srgbClr val="53605A"/>
                </a:solidFill>
              </a:rPr>
              <a:t>A plan is ‘usable’ when it is delivered, coherent and accepted without a full rerun.</a:t>
            </a:r>
          </a:p>
        </p:txBody>
      </p:sp>
      <p:sp>
        <p:nvSpPr>
          <p:cNvPr id="9" name="text-405-165">
            <a:extLst xmlns:a="http://schemas.openxmlformats.org/drawingml/2006/main">
              <a:ext uri="{FF2B5EF4-FFF2-40B4-BE49-F238E27FC236}">
                <a16:creationId xmlns:a16="http://schemas.microsoft.com/office/drawing/2014/main" id="{32AB7E1D-1A45-41EE-AB2F-90CE676233FA}"/>
              </a:ext>
            </a:extLst>
          </p:cNvPr>
          <p:cNvSpPr>
            <a:spLocks xmlns:a="http://schemas.openxmlformats.org/drawingml/2006/main" noGrp="1"/>
          </p:cNvSpPr>
          <p:nvPr/>
        </p:nvSpPr>
        <p:spPr>
          <a:xfrm xmlns:a="http://schemas.openxmlformats.org/drawingml/2006/main">
            <a:off x="3857625" y="1571625"/>
            <a:ext cx="6953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SYSTEM BOUNDARY FOR THE FIRST BASELINE</a:t>
            </a:r>
          </a:p>
        </p:txBody>
      </p:sp>
      <p:sp>
        <p:nvSpPr>
          <p:cNvPr id="10" name="text-405-205">
            <a:extLst xmlns:a="http://schemas.openxmlformats.org/drawingml/2006/main">
              <a:ext uri="{FF2B5EF4-FFF2-40B4-BE49-F238E27FC236}">
                <a16:creationId xmlns:a16="http://schemas.microsoft.com/office/drawing/2014/main" id="{E80A118E-6F6A-40C6-889D-191BBAC1FCAC}"/>
              </a:ext>
            </a:extLst>
          </p:cNvPr>
          <p:cNvSpPr>
            <a:spLocks xmlns:a="http://schemas.openxmlformats.org/drawingml/2006/main" noGrp="1"/>
          </p:cNvSpPr>
          <p:nvPr/>
        </p:nvSpPr>
        <p:spPr>
          <a:xfrm xmlns:a="http://schemas.openxmlformats.org/drawingml/2006/main">
            <a:off x="3857625" y="195262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4E9D6E"/>
                </a:solidFill>
              </a:defRPr>
            </a:pPr>
            <a:r>
              <a:rPr sz="1200" b="1" i="0">
                <a:solidFill>
                  <a:srgbClr val="4E9D6E"/>
                </a:solidFill>
              </a:rPr>
              <a:t>01</a:t>
            </a:r>
          </a:p>
        </p:txBody>
      </p:sp>
      <p:sp>
        <p:nvSpPr>
          <p:cNvPr id="11" name="text-465-205">
            <a:extLst xmlns:a="http://schemas.openxmlformats.org/drawingml/2006/main">
              <a:ext uri="{FF2B5EF4-FFF2-40B4-BE49-F238E27FC236}">
                <a16:creationId xmlns:a16="http://schemas.microsoft.com/office/drawing/2014/main" id="{DDDA61C2-DE38-4B87-9010-EBABAED23EC4}"/>
              </a:ext>
            </a:extLst>
          </p:cNvPr>
          <p:cNvSpPr>
            <a:spLocks xmlns:a="http://schemas.openxmlformats.org/drawingml/2006/main" noGrp="1"/>
          </p:cNvSpPr>
          <p:nvPr/>
        </p:nvSpPr>
        <p:spPr>
          <a:xfrm xmlns:a="http://schemas.openxmlformats.org/drawingml/2006/main">
            <a:off x="4429125" y="1952625"/>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01412"/>
                </a:solidFill>
              </a:defRPr>
            </a:pPr>
            <a:r>
              <a:rPr sz="1650" b="1" i="0">
                <a:solidFill>
                  <a:srgbClr val="101412"/>
                </a:solidFill>
              </a:rPr>
              <a:t>Questionnaire / form</a:t>
            </a:r>
          </a:p>
        </p:txBody>
      </p:sp>
      <p:sp>
        <p:nvSpPr>
          <p:cNvPr id="12" name="text-805-207">
            <a:extLst xmlns:a="http://schemas.openxmlformats.org/drawingml/2006/main">
              <a:ext uri="{FF2B5EF4-FFF2-40B4-BE49-F238E27FC236}">
                <a16:creationId xmlns:a16="http://schemas.microsoft.com/office/drawing/2014/main" id="{B972F01A-EF9C-4071-BF78-988A114A48AC}"/>
              </a:ext>
            </a:extLst>
          </p:cNvPr>
          <p:cNvSpPr>
            <a:spLocks xmlns:a="http://schemas.openxmlformats.org/drawingml/2006/main" noGrp="1"/>
          </p:cNvSpPr>
          <p:nvPr/>
        </p:nvSpPr>
        <p:spPr>
          <a:xfrm xmlns:a="http://schemas.openxmlformats.org/drawingml/2006/main">
            <a:off x="7667625" y="19716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Input payload</a:t>
            </a:r>
          </a:p>
        </p:txBody>
      </p:sp>
      <p:cxnSp>
        <p:nvCxnSpPr>
          <p:cNvPr id="42" name="rule-465-257"/>
          <p:cNvCxnSpPr/>
          <p:nvPr/>
        </p:nvCxnSpPr>
        <p:spPr>
          <a:xfrm xmlns:a="http://schemas.openxmlformats.org/drawingml/2006/main">
            <a:off x="4429125" y="2447925"/>
            <a:ext cx="6477000" cy="95"/>
          </a:xfrm>
          <a:prstGeom xmlns:a="http://schemas.openxmlformats.org/drawingml/2006/main" prst="straightConnector1">
            <a:avLst/>
          </a:prstGeom>
          <a:ln xmlns:a="http://schemas.openxmlformats.org/drawingml/2006/main" w="9525">
            <a:solidFill>
              <a:srgbClr val="B8C0BA"/>
            </a:solidFill>
            <a:prstDash val="solid"/>
          </a:ln>
        </p:spPr>
      </p:cxnSp>
      <p:sp>
        <p:nvSpPr>
          <p:cNvPr id="14" name="text-405-281">
            <a:extLst xmlns:a="http://schemas.openxmlformats.org/drawingml/2006/main">
              <a:ext uri="{FF2B5EF4-FFF2-40B4-BE49-F238E27FC236}">
                <a16:creationId xmlns:a16="http://schemas.microsoft.com/office/drawing/2014/main" id="{982CB53D-C49F-4B40-84F8-E0B58661E7CB}"/>
              </a:ext>
            </a:extLst>
          </p:cNvPr>
          <p:cNvSpPr>
            <a:spLocks xmlns:a="http://schemas.openxmlformats.org/drawingml/2006/main" noGrp="1"/>
          </p:cNvSpPr>
          <p:nvPr/>
        </p:nvSpPr>
        <p:spPr>
          <a:xfrm xmlns:a="http://schemas.openxmlformats.org/drawingml/2006/main">
            <a:off x="3857625" y="267652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4E9D6E"/>
                </a:solidFill>
              </a:defRPr>
            </a:pPr>
            <a:r>
              <a:rPr sz="1200" b="1" i="0">
                <a:solidFill>
                  <a:srgbClr val="4E9D6E"/>
                </a:solidFill>
              </a:rPr>
              <a:t>02</a:t>
            </a:r>
          </a:p>
        </p:txBody>
      </p:sp>
      <p:sp>
        <p:nvSpPr>
          <p:cNvPr id="15" name="text-465-281">
            <a:extLst xmlns:a="http://schemas.openxmlformats.org/drawingml/2006/main">
              <a:ext uri="{FF2B5EF4-FFF2-40B4-BE49-F238E27FC236}">
                <a16:creationId xmlns:a16="http://schemas.microsoft.com/office/drawing/2014/main" id="{7578307C-2D54-4A10-84FD-7976077FABB0}"/>
              </a:ext>
            </a:extLst>
          </p:cNvPr>
          <p:cNvSpPr>
            <a:spLocks xmlns:a="http://schemas.openxmlformats.org/drawingml/2006/main" noGrp="1"/>
          </p:cNvSpPr>
          <p:nvPr/>
        </p:nvSpPr>
        <p:spPr>
          <a:xfrm xmlns:a="http://schemas.openxmlformats.org/drawingml/2006/main">
            <a:off x="4429125" y="2676525"/>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01412"/>
                </a:solidFill>
              </a:defRPr>
            </a:pPr>
            <a:r>
              <a:rPr sz="1650" b="1" i="0">
                <a:solidFill>
                  <a:srgbClr val="101412"/>
                </a:solidFill>
              </a:rPr>
              <a:t>n8n orchestration</a:t>
            </a:r>
          </a:p>
        </p:txBody>
      </p:sp>
      <p:sp>
        <p:nvSpPr>
          <p:cNvPr id="16" name="text-805-283">
            <a:extLst xmlns:a="http://schemas.openxmlformats.org/drawingml/2006/main">
              <a:ext uri="{FF2B5EF4-FFF2-40B4-BE49-F238E27FC236}">
                <a16:creationId xmlns:a16="http://schemas.microsoft.com/office/drawing/2014/main" id="{6B80143D-F5EB-4E85-9837-9603E0904B92}"/>
              </a:ext>
            </a:extLst>
          </p:cNvPr>
          <p:cNvSpPr>
            <a:spLocks xmlns:a="http://schemas.openxmlformats.org/drawingml/2006/main" noGrp="1"/>
          </p:cNvSpPr>
          <p:nvPr/>
        </p:nvSpPr>
        <p:spPr>
          <a:xfrm xmlns:a="http://schemas.openxmlformats.org/drawingml/2006/main">
            <a:off x="7667625" y="26955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Routing, retries, tools</a:t>
            </a:r>
          </a:p>
        </p:txBody>
      </p:sp>
      <p:cxnSp>
        <p:nvCxnSpPr>
          <p:cNvPr id="46" name="rule-465-333"/>
          <p:cNvCxnSpPr/>
          <p:nvPr/>
        </p:nvCxnSpPr>
        <p:spPr>
          <a:xfrm xmlns:a="http://schemas.openxmlformats.org/drawingml/2006/main">
            <a:off x="4429125" y="3171825"/>
            <a:ext cx="6477000" cy="95"/>
          </a:xfrm>
          <a:prstGeom xmlns:a="http://schemas.openxmlformats.org/drawingml/2006/main" prst="straightConnector1">
            <a:avLst/>
          </a:prstGeom>
          <a:ln xmlns:a="http://schemas.openxmlformats.org/drawingml/2006/main" w="9525">
            <a:solidFill>
              <a:srgbClr val="B8C0BA"/>
            </a:solidFill>
            <a:prstDash val="solid"/>
          </a:ln>
        </p:spPr>
      </p:cxnSp>
      <p:sp>
        <p:nvSpPr>
          <p:cNvPr id="18" name="text-405-357">
            <a:extLst xmlns:a="http://schemas.openxmlformats.org/drawingml/2006/main">
              <a:ext uri="{FF2B5EF4-FFF2-40B4-BE49-F238E27FC236}">
                <a16:creationId xmlns:a16="http://schemas.microsoft.com/office/drawing/2014/main" id="{817591D3-BA9C-4642-8B41-1C95DC6D5460}"/>
              </a:ext>
            </a:extLst>
          </p:cNvPr>
          <p:cNvSpPr>
            <a:spLocks xmlns:a="http://schemas.openxmlformats.org/drawingml/2006/main" noGrp="1"/>
          </p:cNvSpPr>
          <p:nvPr/>
        </p:nvSpPr>
        <p:spPr>
          <a:xfrm xmlns:a="http://schemas.openxmlformats.org/drawingml/2006/main">
            <a:off x="3857625" y="340042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4E9D6E"/>
                </a:solidFill>
              </a:defRPr>
            </a:pPr>
            <a:r>
              <a:rPr sz="1200" b="1" i="0">
                <a:solidFill>
                  <a:srgbClr val="4E9D6E"/>
                </a:solidFill>
              </a:rPr>
              <a:t>03</a:t>
            </a:r>
          </a:p>
        </p:txBody>
      </p:sp>
      <p:sp>
        <p:nvSpPr>
          <p:cNvPr id="19" name="text-465-357">
            <a:extLst xmlns:a="http://schemas.openxmlformats.org/drawingml/2006/main">
              <a:ext uri="{FF2B5EF4-FFF2-40B4-BE49-F238E27FC236}">
                <a16:creationId xmlns:a16="http://schemas.microsoft.com/office/drawing/2014/main" id="{B4B63F11-B50C-4F72-ADC3-8EE9B76A9983}"/>
              </a:ext>
            </a:extLst>
          </p:cNvPr>
          <p:cNvSpPr>
            <a:spLocks xmlns:a="http://schemas.openxmlformats.org/drawingml/2006/main" noGrp="1"/>
          </p:cNvSpPr>
          <p:nvPr/>
        </p:nvSpPr>
        <p:spPr>
          <a:xfrm xmlns:a="http://schemas.openxmlformats.org/drawingml/2006/main">
            <a:off x="4429125" y="3400425"/>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01412"/>
                </a:solidFill>
              </a:defRPr>
            </a:pPr>
            <a:r>
              <a:rPr sz="1650" b="1" i="0">
                <a:solidFill>
                  <a:srgbClr val="101412"/>
                </a:solidFill>
              </a:rPr>
              <a:t>Model/API inference</a:t>
            </a:r>
          </a:p>
        </p:txBody>
      </p:sp>
      <p:sp>
        <p:nvSpPr>
          <p:cNvPr id="20" name="text-805-359">
            <a:extLst xmlns:a="http://schemas.openxmlformats.org/drawingml/2006/main">
              <a:ext uri="{FF2B5EF4-FFF2-40B4-BE49-F238E27FC236}">
                <a16:creationId xmlns:a16="http://schemas.microsoft.com/office/drawing/2014/main" id="{01CFD68F-85BD-4837-A006-4A0D8C8EA896}"/>
              </a:ext>
            </a:extLst>
          </p:cNvPr>
          <p:cNvSpPr>
            <a:spLocks xmlns:a="http://schemas.openxmlformats.org/drawingml/2006/main" noGrp="1"/>
          </p:cNvSpPr>
          <p:nvPr/>
        </p:nvSpPr>
        <p:spPr>
          <a:xfrm xmlns:a="http://schemas.openxmlformats.org/drawingml/2006/main">
            <a:off x="7667625" y="34194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Text + image generation</a:t>
            </a:r>
          </a:p>
        </p:txBody>
      </p:sp>
      <p:cxnSp>
        <p:nvCxnSpPr>
          <p:cNvPr id="50" name="rule-465-409"/>
          <p:cNvCxnSpPr/>
          <p:nvPr/>
        </p:nvCxnSpPr>
        <p:spPr>
          <a:xfrm xmlns:a="http://schemas.openxmlformats.org/drawingml/2006/main">
            <a:off x="4429125" y="3895725"/>
            <a:ext cx="6477000" cy="95"/>
          </a:xfrm>
          <a:prstGeom xmlns:a="http://schemas.openxmlformats.org/drawingml/2006/main" prst="straightConnector1">
            <a:avLst/>
          </a:prstGeom>
          <a:ln xmlns:a="http://schemas.openxmlformats.org/drawingml/2006/main" w="9525">
            <a:solidFill>
              <a:srgbClr val="B8C0BA"/>
            </a:solidFill>
            <a:prstDash val="solid"/>
          </a:ln>
        </p:spPr>
      </p:cxnSp>
      <p:sp>
        <p:nvSpPr>
          <p:cNvPr id="22" name="text-405-433">
            <a:extLst xmlns:a="http://schemas.openxmlformats.org/drawingml/2006/main">
              <a:ext uri="{FF2B5EF4-FFF2-40B4-BE49-F238E27FC236}">
                <a16:creationId xmlns:a16="http://schemas.microsoft.com/office/drawing/2014/main" id="{5B6B0E8B-A152-41EA-BA03-4B4636B29ACD}"/>
              </a:ext>
            </a:extLst>
          </p:cNvPr>
          <p:cNvSpPr>
            <a:spLocks xmlns:a="http://schemas.openxmlformats.org/drawingml/2006/main" noGrp="1"/>
          </p:cNvSpPr>
          <p:nvPr/>
        </p:nvSpPr>
        <p:spPr>
          <a:xfrm xmlns:a="http://schemas.openxmlformats.org/drawingml/2006/main">
            <a:off x="3857625" y="412432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4E9D6E"/>
                </a:solidFill>
              </a:defRPr>
            </a:pPr>
            <a:r>
              <a:rPr sz="1200" b="1" i="0">
                <a:solidFill>
                  <a:srgbClr val="4E9D6E"/>
                </a:solidFill>
              </a:rPr>
              <a:t>04</a:t>
            </a:r>
          </a:p>
        </p:txBody>
      </p:sp>
      <p:sp>
        <p:nvSpPr>
          <p:cNvPr id="23" name="text-465-433">
            <a:extLst xmlns:a="http://schemas.openxmlformats.org/drawingml/2006/main">
              <a:ext uri="{FF2B5EF4-FFF2-40B4-BE49-F238E27FC236}">
                <a16:creationId xmlns:a16="http://schemas.microsoft.com/office/drawing/2014/main" id="{34864975-1B8E-48AB-A541-E1E6E6EF40AE}"/>
              </a:ext>
            </a:extLst>
          </p:cNvPr>
          <p:cNvSpPr>
            <a:spLocks xmlns:a="http://schemas.openxmlformats.org/drawingml/2006/main" noGrp="1"/>
          </p:cNvSpPr>
          <p:nvPr/>
        </p:nvSpPr>
        <p:spPr>
          <a:xfrm xmlns:a="http://schemas.openxmlformats.org/drawingml/2006/main">
            <a:off x="4429125" y="4124325"/>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01412"/>
                </a:solidFill>
              </a:defRPr>
            </a:pPr>
            <a:r>
              <a:rPr sz="1650" b="1" i="0">
                <a:solidFill>
                  <a:srgbClr val="101412"/>
                </a:solidFill>
              </a:rPr>
              <a:t>Sheets / Docs / storage</a:t>
            </a:r>
          </a:p>
        </p:txBody>
      </p:sp>
      <p:sp>
        <p:nvSpPr>
          <p:cNvPr id="24" name="text-805-435">
            <a:extLst xmlns:a="http://schemas.openxmlformats.org/drawingml/2006/main">
              <a:ext uri="{FF2B5EF4-FFF2-40B4-BE49-F238E27FC236}">
                <a16:creationId xmlns:a16="http://schemas.microsoft.com/office/drawing/2014/main" id="{5697B08F-0747-43C5-A7D7-42F5111F747A}"/>
              </a:ext>
            </a:extLst>
          </p:cNvPr>
          <p:cNvSpPr>
            <a:spLocks xmlns:a="http://schemas.openxmlformats.org/drawingml/2006/main" noGrp="1"/>
          </p:cNvSpPr>
          <p:nvPr/>
        </p:nvSpPr>
        <p:spPr>
          <a:xfrm xmlns:a="http://schemas.openxmlformats.org/drawingml/2006/main">
            <a:off x="7667625" y="41433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Persistence + transfer</a:t>
            </a:r>
          </a:p>
        </p:txBody>
      </p:sp>
      <p:cxnSp>
        <p:nvCxnSpPr>
          <p:cNvPr id="54" name="rule-465-485"/>
          <p:cNvCxnSpPr/>
          <p:nvPr/>
        </p:nvCxnSpPr>
        <p:spPr>
          <a:xfrm xmlns:a="http://schemas.openxmlformats.org/drawingml/2006/main">
            <a:off x="4429125" y="4619625"/>
            <a:ext cx="6477000" cy="95"/>
          </a:xfrm>
          <a:prstGeom xmlns:a="http://schemas.openxmlformats.org/drawingml/2006/main" prst="straightConnector1">
            <a:avLst/>
          </a:prstGeom>
          <a:ln xmlns:a="http://schemas.openxmlformats.org/drawingml/2006/main" w="9525">
            <a:solidFill>
              <a:srgbClr val="B8C0BA"/>
            </a:solidFill>
            <a:prstDash val="solid"/>
          </a:ln>
        </p:spPr>
      </p:cxnSp>
      <p:sp>
        <p:nvSpPr>
          <p:cNvPr id="26" name="text-405-509">
            <a:extLst xmlns:a="http://schemas.openxmlformats.org/drawingml/2006/main">
              <a:ext uri="{FF2B5EF4-FFF2-40B4-BE49-F238E27FC236}">
                <a16:creationId xmlns:a16="http://schemas.microsoft.com/office/drawing/2014/main" id="{DE29C074-7125-4425-A63B-D29FC79EB9EA}"/>
              </a:ext>
            </a:extLst>
          </p:cNvPr>
          <p:cNvSpPr>
            <a:spLocks xmlns:a="http://schemas.openxmlformats.org/drawingml/2006/main" noGrp="1"/>
          </p:cNvSpPr>
          <p:nvPr/>
        </p:nvSpPr>
        <p:spPr>
          <a:xfrm xmlns:a="http://schemas.openxmlformats.org/drawingml/2006/main">
            <a:off x="3857625" y="4848225"/>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00" b="1" i="0">
                <a:solidFill>
                  <a:srgbClr val="4E9D6E"/>
                </a:solidFill>
              </a:defRPr>
            </a:pPr>
            <a:r>
              <a:rPr sz="1200" b="1" i="0">
                <a:solidFill>
                  <a:srgbClr val="4E9D6E"/>
                </a:solidFill>
              </a:rPr>
              <a:t>05</a:t>
            </a:r>
          </a:p>
        </p:txBody>
      </p:sp>
      <p:sp>
        <p:nvSpPr>
          <p:cNvPr id="27" name="text-465-509">
            <a:extLst xmlns:a="http://schemas.openxmlformats.org/drawingml/2006/main">
              <a:ext uri="{FF2B5EF4-FFF2-40B4-BE49-F238E27FC236}">
                <a16:creationId xmlns:a16="http://schemas.microsoft.com/office/drawing/2014/main" id="{FC2E78F1-9E31-42BC-8CA6-2B910D0403AE}"/>
              </a:ext>
            </a:extLst>
          </p:cNvPr>
          <p:cNvSpPr>
            <a:spLocks xmlns:a="http://schemas.openxmlformats.org/drawingml/2006/main" noGrp="1"/>
          </p:cNvSpPr>
          <p:nvPr/>
        </p:nvSpPr>
        <p:spPr>
          <a:xfrm xmlns:a="http://schemas.openxmlformats.org/drawingml/2006/main">
            <a:off x="4429125" y="4848225"/>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1" i="0">
                <a:solidFill>
                  <a:srgbClr val="101412"/>
                </a:solidFill>
              </a:defRPr>
            </a:pPr>
            <a:r>
              <a:rPr sz="1650" b="1" i="0">
                <a:solidFill>
                  <a:srgbClr val="101412"/>
                </a:solidFill>
              </a:rPr>
              <a:t>Railway MIRA app</a:t>
            </a:r>
          </a:p>
        </p:txBody>
      </p:sp>
      <p:sp>
        <p:nvSpPr>
          <p:cNvPr id="28" name="text-805-511">
            <a:extLst xmlns:a="http://schemas.openxmlformats.org/drawingml/2006/main">
              <a:ext uri="{FF2B5EF4-FFF2-40B4-BE49-F238E27FC236}">
                <a16:creationId xmlns:a16="http://schemas.microsoft.com/office/drawing/2014/main" id="{44187E2B-EE60-441E-8D06-BEAAFE6CE2B9}"/>
              </a:ext>
            </a:extLst>
          </p:cNvPr>
          <p:cNvSpPr>
            <a:spLocks xmlns:a="http://schemas.openxmlformats.org/drawingml/2006/main" noGrp="1"/>
          </p:cNvSpPr>
          <p:nvPr/>
        </p:nvSpPr>
        <p:spPr>
          <a:xfrm xmlns:a="http://schemas.openxmlformats.org/drawingml/2006/main">
            <a:off x="7667625" y="486727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Delivery + idle runtime</a:t>
            </a:r>
          </a:p>
        </p:txBody>
      </p:sp>
      <p:sp>
        <p:nvSpPr>
          <p:cNvPr id="29" name="text-405-602">
            <a:extLst xmlns:a="http://schemas.openxmlformats.org/drawingml/2006/main">
              <a:ext uri="{FF2B5EF4-FFF2-40B4-BE49-F238E27FC236}">
                <a16:creationId xmlns:a16="http://schemas.microsoft.com/office/drawing/2014/main" id="{5EF1151D-C9E8-408F-A92D-C1BF80FAA8DE}"/>
              </a:ext>
            </a:extLst>
          </p:cNvPr>
          <p:cNvSpPr>
            <a:spLocks xmlns:a="http://schemas.openxmlformats.org/drawingml/2006/main" noGrp="1"/>
          </p:cNvSpPr>
          <p:nvPr/>
        </p:nvSpPr>
        <p:spPr>
          <a:xfrm xmlns:a="http://schemas.openxmlformats.org/drawingml/2006/main">
            <a:off x="3857625" y="57340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8966"/>
          </a:bodyPr>
          <a:lstStyle xmlns:a="http://schemas.openxmlformats.org/drawingml/2006/main"/>
          <a:p xmlns:a="http://schemas.openxmlformats.org/drawingml/2006/main">
            <a:pPr algn="l">
              <a:defRPr sz="1200" b="0" i="1">
                <a:solidFill>
                  <a:srgbClr val="53605A"/>
                </a:solidFill>
              </a:defRPr>
            </a:pPr>
            <a:r>
              <a:rPr sz="1200" b="0" i="1">
                <a:solidFill>
                  <a:srgbClr val="53605A"/>
                </a:solidFill>
              </a:rPr>
              <a:t>Initial exclusions: upstream foundation-model training and end-user devices, until attributable provider/device data exists.</a:t>
            </a:r>
          </a:p>
        </p:txBody>
      </p:sp>
    </p:spTree>
    <p:extLst>
      <p:ext uri="{BB962C8B-B14F-4D97-AF65-F5344CB8AC3E}">
        <p14:creationId xmlns:p14="http://schemas.microsoft.com/office/powerpoint/2010/main" val="12298794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text-48-26">
            <a:extLst xmlns:a="http://schemas.openxmlformats.org/drawingml/2006/main">
              <a:ext uri="{FF2B5EF4-FFF2-40B4-BE49-F238E27FC236}">
                <a16:creationId xmlns:a16="http://schemas.microsoft.com/office/drawing/2014/main" id="{EBBADDD8-CE7A-4AB7-897B-763E183FE7E5}"/>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ASSESSMENT DEFENSE · HOTSPOTS</a:t>
            </a:r>
          </a:p>
        </p:txBody>
      </p:sp>
      <p:sp>
        <p:nvSpPr>
          <p:cNvPr id="2" name="text-48-56">
            <a:extLst xmlns:a="http://schemas.openxmlformats.org/drawingml/2006/main">
              <a:ext uri="{FF2B5EF4-FFF2-40B4-BE49-F238E27FC236}">
                <a16:creationId xmlns:a16="http://schemas.microsoft.com/office/drawing/2014/main" id="{2C8C4B77-C778-4244-825B-E8D6A7F7C655}"/>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Four probable hotspots drive MIRA’s compute and storage</a:t>
            </a:r>
          </a:p>
        </p:txBody>
      </p:sp>
      <p:cxnSp>
        <p:nvCxnSpPr>
          <p:cNvPr id="26"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0EF93A8F-0521-43EC-B27A-4250ED6D4A32}"/>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03</a:t>
            </a:r>
          </a:p>
        </p:txBody>
      </p:sp>
      <p:sp>
        <p:nvSpPr>
          <p:cNvPr id="5" name="text-750-150">
            <a:extLst xmlns:a="http://schemas.openxmlformats.org/drawingml/2006/main">
              <a:ext uri="{FF2B5EF4-FFF2-40B4-BE49-F238E27FC236}">
                <a16:creationId xmlns:a16="http://schemas.microsoft.com/office/drawing/2014/main" id="{6894B397-9703-4303-B264-6628A78E1406}"/>
              </a:ext>
            </a:extLst>
          </p:cNvPr>
          <p:cNvSpPr>
            <a:spLocks xmlns:a="http://schemas.openxmlformats.org/drawingml/2006/main" noGrp="1"/>
          </p:cNvSpPr>
          <p:nvPr/>
        </p:nvSpPr>
        <p:spPr>
          <a:xfrm xmlns:a="http://schemas.openxmlformats.org/drawingml/2006/main">
            <a:off x="7143750" y="1428750"/>
            <a:ext cx="4095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125" b="0" i="1">
                <a:solidFill>
                  <a:srgbClr val="53605A"/>
                </a:solidFill>
              </a:defRPr>
            </a:pPr>
            <a:r>
              <a:rPr sz="1125" b="0" i="1">
                <a:solidFill>
                  <a:srgbClr val="53605A"/>
                </a:solidFill>
              </a:rPr>
              <a:t>Architecture-based priority — not measured consumption</a:t>
            </a:r>
          </a:p>
        </p:txBody>
      </p:sp>
      <p:sp>
        <p:nvSpPr>
          <p:cNvPr id="6" name="text-48-185">
            <a:extLst xmlns:a="http://schemas.openxmlformats.org/drawingml/2006/main">
              <a:ext uri="{FF2B5EF4-FFF2-40B4-BE49-F238E27FC236}">
                <a16:creationId xmlns:a16="http://schemas.microsoft.com/office/drawing/2014/main" id="{12BB6D7C-1897-4EB2-B266-4AC054DDB927}"/>
              </a:ext>
            </a:extLst>
          </p:cNvPr>
          <p:cNvSpPr>
            <a:spLocks xmlns:a="http://schemas.openxmlformats.org/drawingml/2006/main" noGrp="1"/>
          </p:cNvSpPr>
          <p:nvPr/>
        </p:nvSpPr>
        <p:spPr>
          <a:xfrm xmlns:a="http://schemas.openxmlformats.org/drawingml/2006/main">
            <a:off x="457200" y="1762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Model + image inference</a:t>
            </a:r>
          </a:p>
        </p:txBody>
      </p:sp>
      <p:sp>
        <p:nvSpPr>
          <p:cNvPr id="7" name="text-950-187">
            <a:extLst xmlns:a="http://schemas.openxmlformats.org/drawingml/2006/main">
              <a:ext uri="{FF2B5EF4-FFF2-40B4-BE49-F238E27FC236}">
                <a16:creationId xmlns:a16="http://schemas.microsoft.com/office/drawing/2014/main" id="{124CFA33-B59E-48F5-922D-0068BD7847E2}"/>
              </a:ext>
            </a:extLst>
          </p:cNvPr>
          <p:cNvSpPr>
            <a:spLocks xmlns:a="http://schemas.openxmlformats.org/drawingml/2006/main" noGrp="1"/>
          </p:cNvSpPr>
          <p:nvPr/>
        </p:nvSpPr>
        <p:spPr>
          <a:xfrm xmlns:a="http://schemas.openxmlformats.org/drawingml/2006/main">
            <a:off x="9048750" y="17811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173B28"/>
                </a:solidFill>
              </a:defRPr>
            </a:pPr>
            <a:r>
              <a:rPr sz="1050" b="1" i="0">
                <a:solidFill>
                  <a:srgbClr val="173B28"/>
                </a:solidFill>
              </a:rPr>
              <a:t>PROBABLY HIGH</a:t>
            </a:r>
          </a:p>
        </p:txBody>
      </p:sp>
      <p:sp>
        <p:nvSpPr>
          <p:cNvPr id="8" name="hotspot-Model + image inference">
            <a:extLst xmlns:a="http://schemas.openxmlformats.org/drawingml/2006/main">
              <a:ext uri="{FF2B5EF4-FFF2-40B4-BE49-F238E27FC236}">
                <a16:creationId xmlns:a16="http://schemas.microsoft.com/office/drawing/2014/main" id="{B7035BD9-DC33-4008-BB7D-E47C4A7DF5C9}"/>
              </a:ext>
            </a:extLst>
          </p:cNvPr>
          <p:cNvSpPr>
            <a:spLocks xmlns:a="http://schemas.openxmlformats.org/drawingml/2006/main" noGrp="1"/>
          </p:cNvSpPr>
          <p:nvPr/>
        </p:nvSpPr>
        <p:spPr>
          <a:xfrm xmlns:a="http://schemas.openxmlformats.org/drawingml/2006/main">
            <a:off x="3286125" y="1809750"/>
            <a:ext cx="6381750" cy="171450"/>
          </a:xfrm>
          <a:prstGeom xmlns:a="http://schemas.openxmlformats.org/drawingml/2006/main" prst="rect">
            <a:avLst/>
          </a:prstGeom>
          <a:solidFill xmlns:a="http://schemas.openxmlformats.org/drawingml/2006/main">
            <a:srgbClr val="173B28"/>
          </a:solidFill>
          <a:ln xmlns:a="http://schemas.openxmlformats.org/drawingml/2006/main" w="0">
            <a:solidFill>
              <a:srgbClr val="173B28"/>
            </a:solidFill>
            <a:prstDash val="solid"/>
          </a:ln>
        </p:spPr>
      </p:sp>
      <p:sp>
        <p:nvSpPr>
          <p:cNvPr id="9" name="text-48-223">
            <a:extLst xmlns:a="http://schemas.openxmlformats.org/drawingml/2006/main">
              <a:ext uri="{FF2B5EF4-FFF2-40B4-BE49-F238E27FC236}">
                <a16:creationId xmlns:a16="http://schemas.microsoft.com/office/drawing/2014/main" id="{CE5547A3-09E8-470E-84C1-B7312B29D628}"/>
              </a:ext>
            </a:extLst>
          </p:cNvPr>
          <p:cNvSpPr>
            <a:spLocks xmlns:a="http://schemas.openxmlformats.org/drawingml/2006/main" noGrp="1"/>
          </p:cNvSpPr>
          <p:nvPr/>
        </p:nvSpPr>
        <p:spPr>
          <a:xfrm xmlns:a="http://schemas.openxmlformats.org/drawingml/2006/main">
            <a:off x="457200" y="2124075"/>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Variable compute grows with prompts, tokens, images and regeneration.</a:t>
            </a:r>
          </a:p>
        </p:txBody>
      </p:sp>
      <p:sp>
        <p:nvSpPr>
          <p:cNvPr id="10" name="text-48-285">
            <a:extLst xmlns:a="http://schemas.openxmlformats.org/drawingml/2006/main">
              <a:ext uri="{FF2B5EF4-FFF2-40B4-BE49-F238E27FC236}">
                <a16:creationId xmlns:a16="http://schemas.microsoft.com/office/drawing/2014/main" id="{0BEA706F-FDDD-440F-BDC4-A6D9D2EDD2E0}"/>
              </a:ext>
            </a:extLst>
          </p:cNvPr>
          <p:cNvSpPr>
            <a:spLocks xmlns:a="http://schemas.openxmlformats.org/drawingml/2006/main" noGrp="1"/>
          </p:cNvSpPr>
          <p:nvPr/>
        </p:nvSpPr>
        <p:spPr>
          <a:xfrm xmlns:a="http://schemas.openxmlformats.org/drawingml/2006/main">
            <a:off x="457200" y="27146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Retries + duplicate runs</a:t>
            </a:r>
          </a:p>
        </p:txBody>
      </p:sp>
      <p:sp>
        <p:nvSpPr>
          <p:cNvPr id="11" name="text-950-287">
            <a:extLst xmlns:a="http://schemas.openxmlformats.org/drawingml/2006/main">
              <a:ext uri="{FF2B5EF4-FFF2-40B4-BE49-F238E27FC236}">
                <a16:creationId xmlns:a16="http://schemas.microsoft.com/office/drawing/2014/main" id="{1F3B40C2-0B3D-4499-A325-F2B52D922B07}"/>
              </a:ext>
            </a:extLst>
          </p:cNvPr>
          <p:cNvSpPr>
            <a:spLocks xmlns:a="http://schemas.openxmlformats.org/drawingml/2006/main" noGrp="1"/>
          </p:cNvSpPr>
          <p:nvPr/>
        </p:nvSpPr>
        <p:spPr>
          <a:xfrm xmlns:a="http://schemas.openxmlformats.org/drawingml/2006/main">
            <a:off x="9048750" y="27336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D48449"/>
                </a:solidFill>
              </a:defRPr>
            </a:pPr>
            <a:r>
              <a:rPr sz="1050" b="1" i="0">
                <a:solidFill>
                  <a:srgbClr val="D48449"/>
                </a:solidFill>
              </a:rPr>
              <a:t>REPEATED WORK</a:t>
            </a:r>
          </a:p>
        </p:txBody>
      </p:sp>
      <p:sp>
        <p:nvSpPr>
          <p:cNvPr id="12" name="hotspot-Retries + duplicate runs">
            <a:extLst xmlns:a="http://schemas.openxmlformats.org/drawingml/2006/main">
              <a:ext uri="{FF2B5EF4-FFF2-40B4-BE49-F238E27FC236}">
                <a16:creationId xmlns:a16="http://schemas.microsoft.com/office/drawing/2014/main" id="{84DBAFA0-13CB-4236-B858-64F0238894A2}"/>
              </a:ext>
            </a:extLst>
          </p:cNvPr>
          <p:cNvSpPr>
            <a:spLocks xmlns:a="http://schemas.openxmlformats.org/drawingml/2006/main" noGrp="1"/>
          </p:cNvSpPr>
          <p:nvPr/>
        </p:nvSpPr>
        <p:spPr>
          <a:xfrm xmlns:a="http://schemas.openxmlformats.org/drawingml/2006/main">
            <a:off x="3286125" y="2762250"/>
            <a:ext cx="4953000" cy="171450"/>
          </a:xfrm>
          <a:prstGeom xmlns:a="http://schemas.openxmlformats.org/drawingml/2006/main" prst="rect">
            <a:avLst/>
          </a:prstGeom>
          <a:solidFill xmlns:a="http://schemas.openxmlformats.org/drawingml/2006/main">
            <a:srgbClr val="D48449"/>
          </a:solidFill>
          <a:ln xmlns:a="http://schemas.openxmlformats.org/drawingml/2006/main" w="0">
            <a:solidFill>
              <a:srgbClr val="D48449"/>
            </a:solidFill>
            <a:prstDash val="solid"/>
          </a:ln>
        </p:spPr>
      </p:sp>
      <p:sp>
        <p:nvSpPr>
          <p:cNvPr id="13" name="text-48-323">
            <a:extLst xmlns:a="http://schemas.openxmlformats.org/drawingml/2006/main">
              <a:ext uri="{FF2B5EF4-FFF2-40B4-BE49-F238E27FC236}">
                <a16:creationId xmlns:a16="http://schemas.microsoft.com/office/drawing/2014/main" id="{4C9A3032-10B7-43AD-AB8D-8CB485465FBE}"/>
              </a:ext>
            </a:extLst>
          </p:cNvPr>
          <p:cNvSpPr>
            <a:spLocks xmlns:a="http://schemas.openxmlformats.org/drawingml/2006/main" noGrp="1"/>
          </p:cNvSpPr>
          <p:nvPr/>
        </p:nvSpPr>
        <p:spPr>
          <a:xfrm xmlns:a="http://schemas.openxmlformats.org/drawingml/2006/main">
            <a:off x="457200" y="3076575"/>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The same questionnaire or unchanged sections may trigger the full chain again.</a:t>
            </a:r>
          </a:p>
        </p:txBody>
      </p:sp>
      <p:sp>
        <p:nvSpPr>
          <p:cNvPr id="14" name="text-48-385">
            <a:extLst xmlns:a="http://schemas.openxmlformats.org/drawingml/2006/main">
              <a:ext uri="{FF2B5EF4-FFF2-40B4-BE49-F238E27FC236}">
                <a16:creationId xmlns:a16="http://schemas.microsoft.com/office/drawing/2014/main" id="{C066F296-6B5C-4240-907E-DFDDCBD6EFA1}"/>
              </a:ext>
            </a:extLst>
          </p:cNvPr>
          <p:cNvSpPr>
            <a:spLocks xmlns:a="http://schemas.openxmlformats.org/drawingml/2006/main" noGrp="1"/>
          </p:cNvSpPr>
          <p:nvPr/>
        </p:nvSpPr>
        <p:spPr>
          <a:xfrm xmlns:a="http://schemas.openxmlformats.org/drawingml/2006/main">
            <a:off x="457200" y="36671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Media transfer + storage</a:t>
            </a:r>
          </a:p>
        </p:txBody>
      </p:sp>
      <p:sp>
        <p:nvSpPr>
          <p:cNvPr id="15" name="text-950-387">
            <a:extLst xmlns:a="http://schemas.openxmlformats.org/drawingml/2006/main">
              <a:ext uri="{FF2B5EF4-FFF2-40B4-BE49-F238E27FC236}">
                <a16:creationId xmlns:a16="http://schemas.microsoft.com/office/drawing/2014/main" id="{098F8F90-F702-488C-A2AA-2715716EB176}"/>
              </a:ext>
            </a:extLst>
          </p:cNvPr>
          <p:cNvSpPr>
            <a:spLocks xmlns:a="http://schemas.openxmlformats.org/drawingml/2006/main" noGrp="1"/>
          </p:cNvSpPr>
          <p:nvPr/>
        </p:nvSpPr>
        <p:spPr>
          <a:xfrm xmlns:a="http://schemas.openxmlformats.org/drawingml/2006/main">
            <a:off x="9048750" y="36861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E9D6E"/>
                </a:solidFill>
              </a:defRPr>
            </a:pPr>
            <a:r>
              <a:rPr sz="1050" b="1" i="0">
                <a:solidFill>
                  <a:srgbClr val="4E9D6E"/>
                </a:solidFill>
              </a:rPr>
              <a:t>PROBABLY MEDIUM</a:t>
            </a:r>
          </a:p>
        </p:txBody>
      </p:sp>
      <p:sp>
        <p:nvSpPr>
          <p:cNvPr id="16" name="hotspot-Media transfer + storage">
            <a:extLst xmlns:a="http://schemas.openxmlformats.org/drawingml/2006/main">
              <a:ext uri="{FF2B5EF4-FFF2-40B4-BE49-F238E27FC236}">
                <a16:creationId xmlns:a16="http://schemas.microsoft.com/office/drawing/2014/main" id="{E507C9AE-2E4B-4D65-828E-D890750EB2A3}"/>
              </a:ext>
            </a:extLst>
          </p:cNvPr>
          <p:cNvSpPr>
            <a:spLocks xmlns:a="http://schemas.openxmlformats.org/drawingml/2006/main" noGrp="1"/>
          </p:cNvSpPr>
          <p:nvPr/>
        </p:nvSpPr>
        <p:spPr>
          <a:xfrm xmlns:a="http://schemas.openxmlformats.org/drawingml/2006/main">
            <a:off x="3286125" y="3714750"/>
            <a:ext cx="3810000" cy="171450"/>
          </a:xfrm>
          <a:prstGeom xmlns:a="http://schemas.openxmlformats.org/drawingml/2006/main" prst="rect">
            <a:avLst/>
          </a:prstGeom>
          <a:solidFill xmlns:a="http://schemas.openxmlformats.org/drawingml/2006/main">
            <a:srgbClr val="4E9D6E"/>
          </a:solidFill>
          <a:ln xmlns:a="http://schemas.openxmlformats.org/drawingml/2006/main" w="0">
            <a:solidFill>
              <a:srgbClr val="4E9D6E"/>
            </a:solidFill>
            <a:prstDash val="solid"/>
          </a:ln>
        </p:spPr>
      </p:sp>
      <p:sp>
        <p:nvSpPr>
          <p:cNvPr id="17" name="text-48-423">
            <a:extLst xmlns:a="http://schemas.openxmlformats.org/drawingml/2006/main">
              <a:ext uri="{FF2B5EF4-FFF2-40B4-BE49-F238E27FC236}">
                <a16:creationId xmlns:a16="http://schemas.microsoft.com/office/drawing/2014/main" id="{0C77FF8A-451A-47C9-8508-F1297BBC2D1F}"/>
              </a:ext>
            </a:extLst>
          </p:cNvPr>
          <p:cNvSpPr>
            <a:spLocks xmlns:a="http://schemas.openxmlformats.org/drawingml/2006/main" noGrp="1"/>
          </p:cNvSpPr>
          <p:nvPr/>
        </p:nvSpPr>
        <p:spPr>
          <a:xfrm xmlns:a="http://schemas.openxmlformats.org/drawingml/2006/main">
            <a:off x="457200" y="4029075"/>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Large drafts and rejected variants persist and move across services.</a:t>
            </a:r>
          </a:p>
        </p:txBody>
      </p:sp>
      <p:sp>
        <p:nvSpPr>
          <p:cNvPr id="18" name="text-48-485">
            <a:extLst xmlns:a="http://schemas.openxmlformats.org/drawingml/2006/main">
              <a:ext uri="{FF2B5EF4-FFF2-40B4-BE49-F238E27FC236}">
                <a16:creationId xmlns:a16="http://schemas.microsoft.com/office/drawing/2014/main" id="{4BD71C49-A105-4147-A360-15608011BC2E}"/>
              </a:ext>
            </a:extLst>
          </p:cNvPr>
          <p:cNvSpPr>
            <a:spLocks xmlns:a="http://schemas.openxmlformats.org/drawingml/2006/main" noGrp="1"/>
          </p:cNvSpPr>
          <p:nvPr/>
        </p:nvSpPr>
        <p:spPr>
          <a:xfrm xmlns:a="http://schemas.openxmlformats.org/drawingml/2006/main">
            <a:off x="457200" y="46196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Idle app / automation capacity</a:t>
            </a:r>
          </a:p>
        </p:txBody>
      </p:sp>
      <p:sp>
        <p:nvSpPr>
          <p:cNvPr id="19" name="text-950-487">
            <a:extLst xmlns:a="http://schemas.openxmlformats.org/drawingml/2006/main">
              <a:ext uri="{FF2B5EF4-FFF2-40B4-BE49-F238E27FC236}">
                <a16:creationId xmlns:a16="http://schemas.microsoft.com/office/drawing/2014/main" id="{A0F62FB2-59A4-4F93-AE92-0CE0BEAE0803}"/>
              </a:ext>
            </a:extLst>
          </p:cNvPr>
          <p:cNvSpPr>
            <a:spLocks xmlns:a="http://schemas.openxmlformats.org/drawingml/2006/main" noGrp="1"/>
          </p:cNvSpPr>
          <p:nvPr/>
        </p:nvSpPr>
        <p:spPr>
          <a:xfrm xmlns:a="http://schemas.openxmlformats.org/drawingml/2006/main">
            <a:off x="9048750" y="463867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1050" b="1" i="0">
                <a:solidFill>
                  <a:srgbClr val="4B86C6"/>
                </a:solidFill>
              </a:defRPr>
            </a:pPr>
            <a:r>
              <a:rPr sz="1050" b="1" i="0">
                <a:solidFill>
                  <a:srgbClr val="4B86C6"/>
                </a:solidFill>
              </a:rPr>
              <a:t>UNKNOWN</a:t>
            </a:r>
          </a:p>
        </p:txBody>
      </p:sp>
      <p:sp>
        <p:nvSpPr>
          <p:cNvPr id="20" name="hotspot-Idle app / automation capacity">
            <a:extLst xmlns:a="http://schemas.openxmlformats.org/drawingml/2006/main">
              <a:ext uri="{FF2B5EF4-FFF2-40B4-BE49-F238E27FC236}">
                <a16:creationId xmlns:a16="http://schemas.microsoft.com/office/drawing/2014/main" id="{52E865E1-6A6F-4715-912B-35FBD24968D8}"/>
              </a:ext>
            </a:extLst>
          </p:cNvPr>
          <p:cNvSpPr>
            <a:spLocks xmlns:a="http://schemas.openxmlformats.org/drawingml/2006/main" noGrp="1"/>
          </p:cNvSpPr>
          <p:nvPr/>
        </p:nvSpPr>
        <p:spPr>
          <a:xfrm xmlns:a="http://schemas.openxmlformats.org/drawingml/2006/main">
            <a:off x="3286125" y="4667250"/>
            <a:ext cx="2667000" cy="171450"/>
          </a:xfrm>
          <a:prstGeom xmlns:a="http://schemas.openxmlformats.org/drawingml/2006/main" prst="rect">
            <a:avLst/>
          </a:prstGeom>
          <a:solidFill xmlns:a="http://schemas.openxmlformats.org/drawingml/2006/main">
            <a:srgbClr val="4B86C6"/>
          </a:solidFill>
          <a:ln xmlns:a="http://schemas.openxmlformats.org/drawingml/2006/main" w="0">
            <a:solidFill>
              <a:srgbClr val="4B86C6"/>
            </a:solidFill>
            <a:prstDash val="solid"/>
          </a:ln>
        </p:spPr>
      </p:sp>
      <p:sp>
        <p:nvSpPr>
          <p:cNvPr id="21" name="text-48-523">
            <a:extLst xmlns:a="http://schemas.openxmlformats.org/drawingml/2006/main">
              <a:ext uri="{FF2B5EF4-FFF2-40B4-BE49-F238E27FC236}">
                <a16:creationId xmlns:a16="http://schemas.microsoft.com/office/drawing/2014/main" id="{08C344AF-768F-4B84-9815-2C043F45D5CF}"/>
              </a:ext>
            </a:extLst>
          </p:cNvPr>
          <p:cNvSpPr>
            <a:spLocks xmlns:a="http://schemas.openxmlformats.org/drawingml/2006/main" noGrp="1"/>
          </p:cNvSpPr>
          <p:nvPr/>
        </p:nvSpPr>
        <p:spPr>
          <a:xfrm xmlns:a="http://schemas.openxmlformats.org/drawingml/2006/main">
            <a:off x="457200" y="4981575"/>
            <a:ext cx="10715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Low-volume MVP traffic may leave provisioned resources under-used.</a:t>
            </a:r>
          </a:p>
        </p:txBody>
      </p:sp>
      <p:sp>
        <p:nvSpPr>
          <p:cNvPr id="22" name="repeat-key">
            <a:extLst xmlns:a="http://schemas.openxmlformats.org/drawingml/2006/main">
              <a:ext uri="{FF2B5EF4-FFF2-40B4-BE49-F238E27FC236}">
                <a16:creationId xmlns:a16="http://schemas.microsoft.com/office/drawing/2014/main" id="{51F8CFD3-8225-4111-B315-31B2A850F06F}"/>
              </a:ext>
            </a:extLst>
          </p:cNvPr>
          <p:cNvSpPr>
            <a:spLocks xmlns:a="http://schemas.openxmlformats.org/drawingml/2006/main" noGrp="1"/>
          </p:cNvSpPr>
          <p:nvPr/>
        </p:nvSpPr>
        <p:spPr>
          <a:xfrm xmlns:a="http://schemas.openxmlformats.org/drawingml/2006/main">
            <a:off x="457200" y="5619750"/>
            <a:ext cx="10810875" cy="381000"/>
          </a:xfrm>
          <a:prstGeom xmlns:a="http://schemas.openxmlformats.org/drawingml/2006/main" prst="rect">
            <a:avLst/>
          </a:prstGeom>
          <a:solidFill xmlns:a="http://schemas.openxmlformats.org/drawingml/2006/main">
            <a:srgbClr val="F6E7DB"/>
          </a:solidFill>
          <a:ln xmlns:a="http://schemas.openxmlformats.org/drawingml/2006/main" w="0">
            <a:solidFill>
              <a:srgbClr val="F6E7DB"/>
            </a:solidFill>
            <a:prstDash val="solid"/>
          </a:ln>
        </p:spPr>
      </p:sp>
      <p:sp>
        <p:nvSpPr>
          <p:cNvPr id="23" name="text-66-600">
            <a:extLst xmlns:a="http://schemas.openxmlformats.org/drawingml/2006/main">
              <a:ext uri="{FF2B5EF4-FFF2-40B4-BE49-F238E27FC236}">
                <a16:creationId xmlns:a16="http://schemas.microsoft.com/office/drawing/2014/main" id="{7FA60D06-2E81-4404-8A54-8A9DE72D5AFB}"/>
              </a:ext>
            </a:extLst>
          </p:cNvPr>
          <p:cNvSpPr>
            <a:spLocks xmlns:a="http://schemas.openxmlformats.org/drawingml/2006/main" noGrp="1"/>
          </p:cNvSpPr>
          <p:nvPr/>
        </p:nvSpPr>
        <p:spPr>
          <a:xfrm xmlns:a="http://schemas.openxmlformats.org/drawingml/2006/main">
            <a:off x="628650" y="5715000"/>
            <a:ext cx="10382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1" i="0">
                <a:solidFill>
                  <a:srgbClr val="101412"/>
                </a:solidFill>
              </a:defRPr>
            </a:pPr>
            <a:r>
              <a:rPr sz="1275" b="1" i="0">
                <a:solidFill>
                  <a:srgbClr val="101412"/>
                </a:solidFill>
              </a:rPr>
              <a:t>FIRST TARGET: repeated work — usually the fastest lever for cost, latency and energy per R.</a:t>
            </a:r>
          </a:p>
        </p:txBody>
      </p:sp>
    </p:spTree>
    <p:extLst>
      <p:ext uri="{BB962C8B-B14F-4D97-AF65-F5344CB8AC3E}">
        <p14:creationId xmlns:p14="http://schemas.microsoft.com/office/powerpoint/2010/main" val="1019785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text-48-26">
            <a:extLst xmlns:a="http://schemas.openxmlformats.org/drawingml/2006/main">
              <a:ext uri="{FF2B5EF4-FFF2-40B4-BE49-F238E27FC236}">
                <a16:creationId xmlns:a16="http://schemas.microsoft.com/office/drawing/2014/main" id="{11A3BE9C-A7D7-4019-830C-2BE3AF374EE1}"/>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ASSESSMENT DEFENSE · ASSUMPTIONS</a:t>
            </a:r>
          </a:p>
        </p:txBody>
      </p:sp>
      <p:sp>
        <p:nvSpPr>
          <p:cNvPr id="2" name="text-48-56">
            <a:extLst xmlns:a="http://schemas.openxmlformats.org/drawingml/2006/main">
              <a:ext uri="{FF2B5EF4-FFF2-40B4-BE49-F238E27FC236}">
                <a16:creationId xmlns:a16="http://schemas.microsoft.com/office/drawing/2014/main" id="{D2FC6589-4A5C-4002-890C-F4F1B9B8A575}"/>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This is a defensible hypothesis, not a carbon measurement</a:t>
            </a:r>
          </a:p>
        </p:txBody>
      </p:sp>
      <p:cxnSp>
        <p:nvCxnSpPr>
          <p:cNvPr id="28"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D0DAF82F-FE00-40EE-A31E-6F621F39A8EF}"/>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04</a:t>
            </a:r>
          </a:p>
        </p:txBody>
      </p:sp>
      <p:sp>
        <p:nvSpPr>
          <p:cNvPr id="5" name="text-48-165">
            <a:extLst xmlns:a="http://schemas.openxmlformats.org/drawingml/2006/main">
              <a:ext uri="{FF2B5EF4-FFF2-40B4-BE49-F238E27FC236}">
                <a16:creationId xmlns:a16="http://schemas.microsoft.com/office/drawing/2014/main" id="{A0DFB449-A6EB-4BEB-A614-BB0A13EFE32A}"/>
              </a:ext>
            </a:extLst>
          </p:cNvPr>
          <p:cNvSpPr>
            <a:spLocks xmlns:a="http://schemas.openxmlformats.org/drawingml/2006/main" noGrp="1"/>
          </p:cNvSpPr>
          <p:nvPr/>
        </p:nvSpPr>
        <p:spPr>
          <a:xfrm xmlns:a="http://schemas.openxmlformats.org/drawingml/2006/main">
            <a:off x="457200" y="1571625"/>
            <a:ext cx="561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WHAT WE CURRENTLY ASSUME</a:t>
            </a:r>
          </a:p>
        </p:txBody>
      </p:sp>
      <p:sp>
        <p:nvSpPr>
          <p:cNvPr id="6" name="text-48-205">
            <a:extLst xmlns:a="http://schemas.openxmlformats.org/drawingml/2006/main">
              <a:ext uri="{FF2B5EF4-FFF2-40B4-BE49-F238E27FC236}">
                <a16:creationId xmlns:a16="http://schemas.microsoft.com/office/drawing/2014/main" id="{4E6A1B3F-825B-42D7-B4C0-982781B67ADD}"/>
              </a:ext>
            </a:extLst>
          </p:cNvPr>
          <p:cNvSpPr>
            <a:spLocks xmlns:a="http://schemas.openxmlformats.org/drawingml/2006/main" noGrp="1"/>
          </p:cNvSpPr>
          <p:nvPr/>
        </p:nvSpPr>
        <p:spPr>
          <a:xfrm xmlns:a="http://schemas.openxmlformats.org/drawingml/2006/main">
            <a:off x="457200" y="19526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4E9D6E"/>
                </a:solidFill>
              </a:defRPr>
            </a:pPr>
            <a:r>
              <a:rPr sz="1125" b="1" i="0">
                <a:solidFill>
                  <a:srgbClr val="4E9D6E"/>
                </a:solidFill>
              </a:rPr>
              <a:t>01</a:t>
            </a:r>
          </a:p>
        </p:txBody>
      </p:sp>
      <p:sp>
        <p:nvSpPr>
          <p:cNvPr id="7" name="text-105-205">
            <a:extLst xmlns:a="http://schemas.openxmlformats.org/drawingml/2006/main">
              <a:ext uri="{FF2B5EF4-FFF2-40B4-BE49-F238E27FC236}">
                <a16:creationId xmlns:a16="http://schemas.microsoft.com/office/drawing/2014/main" id="{FA1492BF-9182-4709-B06E-1B0B4872718C}"/>
              </a:ext>
            </a:extLst>
          </p:cNvPr>
          <p:cNvSpPr>
            <a:spLocks xmlns:a="http://schemas.openxmlformats.org/drawingml/2006/main" noGrp="1"/>
          </p:cNvSpPr>
          <p:nvPr/>
        </p:nvSpPr>
        <p:spPr>
          <a:xfrm xmlns:a="http://schemas.openxmlformats.org/drawingml/2006/main">
            <a:off x="1000125" y="195262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Call pattern</a:t>
            </a:r>
          </a:p>
        </p:txBody>
      </p:sp>
      <p:sp>
        <p:nvSpPr>
          <p:cNvPr id="8" name="text-285-205">
            <a:extLst xmlns:a="http://schemas.openxmlformats.org/drawingml/2006/main">
              <a:ext uri="{FF2B5EF4-FFF2-40B4-BE49-F238E27FC236}">
                <a16:creationId xmlns:a16="http://schemas.microsoft.com/office/drawing/2014/main" id="{D2C1BEC2-05A0-4EA2-AB9D-309678AD7D81}"/>
              </a:ext>
            </a:extLst>
          </p:cNvPr>
          <p:cNvSpPr>
            <a:spLocks xmlns:a="http://schemas.openxmlformats.org/drawingml/2006/main" noGrp="1"/>
          </p:cNvSpPr>
          <p:nvPr/>
        </p:nvSpPr>
        <p:spPr>
          <a:xfrm xmlns:a="http://schemas.openxmlformats.org/drawingml/2006/main">
            <a:off x="2714625" y="19526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A full workflow may rerun after retries or revisions.</a:t>
            </a:r>
          </a:p>
        </p:txBody>
      </p:sp>
      <p:cxnSp>
        <p:nvCxnSpPr>
          <p:cNvPr id="34" name="rule-105-277"/>
          <p:cNvCxnSpPr/>
          <p:nvPr/>
        </p:nvCxnSpPr>
        <p:spPr>
          <a:xfrm xmlns:a="http://schemas.openxmlformats.org/drawingml/2006/main">
            <a:off x="1000125" y="2638425"/>
            <a:ext cx="5048250" cy="95"/>
          </a:xfrm>
          <a:prstGeom xmlns:a="http://schemas.openxmlformats.org/drawingml/2006/main" prst="straightConnector1">
            <a:avLst/>
          </a:prstGeom>
          <a:ln xmlns:a="http://schemas.openxmlformats.org/drawingml/2006/main" w="9525">
            <a:solidFill>
              <a:srgbClr val="B8C0BA"/>
            </a:solidFill>
            <a:prstDash val="solid"/>
          </a:ln>
        </p:spPr>
      </p:cxnSp>
      <p:sp>
        <p:nvSpPr>
          <p:cNvPr id="10" name="text-48-297">
            <a:extLst xmlns:a="http://schemas.openxmlformats.org/drawingml/2006/main">
              <a:ext uri="{FF2B5EF4-FFF2-40B4-BE49-F238E27FC236}">
                <a16:creationId xmlns:a16="http://schemas.microsoft.com/office/drawing/2014/main" id="{9C0E1CC2-01B1-4DA0-9703-59BBB2B9E673}"/>
              </a:ext>
            </a:extLst>
          </p:cNvPr>
          <p:cNvSpPr>
            <a:spLocks xmlns:a="http://schemas.openxmlformats.org/drawingml/2006/main" noGrp="1"/>
          </p:cNvSpPr>
          <p:nvPr/>
        </p:nvSpPr>
        <p:spPr>
          <a:xfrm xmlns:a="http://schemas.openxmlformats.org/drawingml/2006/main">
            <a:off x="457200" y="28289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4E9D6E"/>
                </a:solidFill>
              </a:defRPr>
            </a:pPr>
            <a:r>
              <a:rPr sz="1125" b="1" i="0">
                <a:solidFill>
                  <a:srgbClr val="4E9D6E"/>
                </a:solidFill>
              </a:rPr>
              <a:t>02</a:t>
            </a:r>
          </a:p>
        </p:txBody>
      </p:sp>
      <p:sp>
        <p:nvSpPr>
          <p:cNvPr id="11" name="text-105-297">
            <a:extLst xmlns:a="http://schemas.openxmlformats.org/drawingml/2006/main">
              <a:ext uri="{FF2B5EF4-FFF2-40B4-BE49-F238E27FC236}">
                <a16:creationId xmlns:a16="http://schemas.microsoft.com/office/drawing/2014/main" id="{653ABA57-428E-47AB-9D85-7B3D13D40E6F}"/>
              </a:ext>
            </a:extLst>
          </p:cNvPr>
          <p:cNvSpPr>
            <a:spLocks xmlns:a="http://schemas.openxmlformats.org/drawingml/2006/main" noGrp="1"/>
          </p:cNvSpPr>
          <p:nvPr/>
        </p:nvSpPr>
        <p:spPr>
          <a:xfrm xmlns:a="http://schemas.openxmlformats.org/drawingml/2006/main">
            <a:off x="1000125" y="282892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Model choice</a:t>
            </a:r>
          </a:p>
        </p:txBody>
      </p:sp>
      <p:sp>
        <p:nvSpPr>
          <p:cNvPr id="12" name="text-285-297">
            <a:extLst xmlns:a="http://schemas.openxmlformats.org/drawingml/2006/main">
              <a:ext uri="{FF2B5EF4-FFF2-40B4-BE49-F238E27FC236}">
                <a16:creationId xmlns:a16="http://schemas.microsoft.com/office/drawing/2014/main" id="{FE96CBE6-E014-432F-98FE-F09E5B873F7C}"/>
              </a:ext>
            </a:extLst>
          </p:cNvPr>
          <p:cNvSpPr>
            <a:spLocks xmlns:a="http://schemas.openxmlformats.org/drawingml/2006/main" noGrp="1"/>
          </p:cNvSpPr>
          <p:nvPr/>
        </p:nvSpPr>
        <p:spPr>
          <a:xfrm xmlns:a="http://schemas.openxmlformats.org/drawingml/2006/main">
            <a:off x="2714625" y="28289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Model size, context length and image settings are not yet logged.</a:t>
            </a:r>
          </a:p>
        </p:txBody>
      </p:sp>
      <p:cxnSp>
        <p:nvCxnSpPr>
          <p:cNvPr id="38" name="rule-105-369"/>
          <p:cNvCxnSpPr/>
          <p:nvPr/>
        </p:nvCxnSpPr>
        <p:spPr>
          <a:xfrm xmlns:a="http://schemas.openxmlformats.org/drawingml/2006/main">
            <a:off x="1000125" y="3514725"/>
            <a:ext cx="5048250" cy="95"/>
          </a:xfrm>
          <a:prstGeom xmlns:a="http://schemas.openxmlformats.org/drawingml/2006/main" prst="straightConnector1">
            <a:avLst/>
          </a:prstGeom>
          <a:ln xmlns:a="http://schemas.openxmlformats.org/drawingml/2006/main" w="9525">
            <a:solidFill>
              <a:srgbClr val="B8C0BA"/>
            </a:solidFill>
            <a:prstDash val="solid"/>
          </a:ln>
        </p:spPr>
      </p:cxnSp>
      <p:sp>
        <p:nvSpPr>
          <p:cNvPr id="14" name="text-48-389">
            <a:extLst xmlns:a="http://schemas.openxmlformats.org/drawingml/2006/main">
              <a:ext uri="{FF2B5EF4-FFF2-40B4-BE49-F238E27FC236}">
                <a16:creationId xmlns:a16="http://schemas.microsoft.com/office/drawing/2014/main" id="{D4D079B2-D32A-45C3-8947-8C0F82114944}"/>
              </a:ext>
            </a:extLst>
          </p:cNvPr>
          <p:cNvSpPr>
            <a:spLocks xmlns:a="http://schemas.openxmlformats.org/drawingml/2006/main" noGrp="1"/>
          </p:cNvSpPr>
          <p:nvPr/>
        </p:nvSpPr>
        <p:spPr>
          <a:xfrm xmlns:a="http://schemas.openxmlformats.org/drawingml/2006/main">
            <a:off x="457200" y="37052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4E9D6E"/>
                </a:solidFill>
              </a:defRPr>
            </a:pPr>
            <a:r>
              <a:rPr sz="1125" b="1" i="0">
                <a:solidFill>
                  <a:srgbClr val="4E9D6E"/>
                </a:solidFill>
              </a:rPr>
              <a:t>03</a:t>
            </a:r>
          </a:p>
        </p:txBody>
      </p:sp>
      <p:sp>
        <p:nvSpPr>
          <p:cNvPr id="15" name="text-105-389">
            <a:extLst xmlns:a="http://schemas.openxmlformats.org/drawingml/2006/main">
              <a:ext uri="{FF2B5EF4-FFF2-40B4-BE49-F238E27FC236}">
                <a16:creationId xmlns:a16="http://schemas.microsoft.com/office/drawing/2014/main" id="{977FC751-CC62-418F-A184-D98E958EE4EC}"/>
              </a:ext>
            </a:extLst>
          </p:cNvPr>
          <p:cNvSpPr>
            <a:spLocks xmlns:a="http://schemas.openxmlformats.org/drawingml/2006/main" noGrp="1"/>
          </p:cNvSpPr>
          <p:nvPr/>
        </p:nvSpPr>
        <p:spPr>
          <a:xfrm xmlns:a="http://schemas.openxmlformats.org/drawingml/2006/main">
            <a:off x="1000125" y="370522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683"/>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Region + runtime</a:t>
            </a:r>
          </a:p>
        </p:txBody>
      </p:sp>
      <p:sp>
        <p:nvSpPr>
          <p:cNvPr id="16" name="text-285-389">
            <a:extLst xmlns:a="http://schemas.openxmlformats.org/drawingml/2006/main">
              <a:ext uri="{FF2B5EF4-FFF2-40B4-BE49-F238E27FC236}">
                <a16:creationId xmlns:a16="http://schemas.microsoft.com/office/drawing/2014/main" id="{F418DDE4-0102-47F8-A2C5-4740C3B2FFAF}"/>
              </a:ext>
            </a:extLst>
          </p:cNvPr>
          <p:cNvSpPr>
            <a:spLocks xmlns:a="http://schemas.openxmlformats.org/drawingml/2006/main" noGrp="1"/>
          </p:cNvSpPr>
          <p:nvPr/>
        </p:nvSpPr>
        <p:spPr>
          <a:xfrm xmlns:a="http://schemas.openxmlformats.org/drawingml/2006/main">
            <a:off x="2714625" y="37052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Provider regions, grid intensity and idle utilization are unknown.</a:t>
            </a:r>
          </a:p>
        </p:txBody>
      </p:sp>
      <p:cxnSp>
        <p:nvCxnSpPr>
          <p:cNvPr id="42" name="rule-105-461"/>
          <p:cNvCxnSpPr/>
          <p:nvPr/>
        </p:nvCxnSpPr>
        <p:spPr>
          <a:xfrm xmlns:a="http://schemas.openxmlformats.org/drawingml/2006/main">
            <a:off x="1000125" y="4391025"/>
            <a:ext cx="5048250" cy="95"/>
          </a:xfrm>
          <a:prstGeom xmlns:a="http://schemas.openxmlformats.org/drawingml/2006/main" prst="straightConnector1">
            <a:avLst/>
          </a:prstGeom>
          <a:ln xmlns:a="http://schemas.openxmlformats.org/drawingml/2006/main" w="9525">
            <a:solidFill>
              <a:srgbClr val="B8C0BA"/>
            </a:solidFill>
            <a:prstDash val="solid"/>
          </a:ln>
        </p:spPr>
      </p:cxnSp>
      <p:sp>
        <p:nvSpPr>
          <p:cNvPr id="18" name="text-48-481">
            <a:extLst xmlns:a="http://schemas.openxmlformats.org/drawingml/2006/main">
              <a:ext uri="{FF2B5EF4-FFF2-40B4-BE49-F238E27FC236}">
                <a16:creationId xmlns:a16="http://schemas.microsoft.com/office/drawing/2014/main" id="{4FD1ECF9-E435-4BF3-A99F-C3F80DFCAA62}"/>
              </a:ext>
            </a:extLst>
          </p:cNvPr>
          <p:cNvSpPr>
            <a:spLocks xmlns:a="http://schemas.openxmlformats.org/drawingml/2006/main" noGrp="1"/>
          </p:cNvSpPr>
          <p:nvPr/>
        </p:nvSpPr>
        <p:spPr>
          <a:xfrm xmlns:a="http://schemas.openxmlformats.org/drawingml/2006/main">
            <a:off x="457200" y="45815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125" b="1" i="0">
                <a:solidFill>
                  <a:srgbClr val="4E9D6E"/>
                </a:solidFill>
              </a:defRPr>
            </a:pPr>
            <a:r>
              <a:rPr sz="1125" b="1" i="0">
                <a:solidFill>
                  <a:srgbClr val="4E9D6E"/>
                </a:solidFill>
              </a:rPr>
              <a:t>04</a:t>
            </a:r>
          </a:p>
        </p:txBody>
      </p:sp>
      <p:sp>
        <p:nvSpPr>
          <p:cNvPr id="19" name="text-105-481">
            <a:extLst xmlns:a="http://schemas.openxmlformats.org/drawingml/2006/main">
              <a:ext uri="{FF2B5EF4-FFF2-40B4-BE49-F238E27FC236}">
                <a16:creationId xmlns:a16="http://schemas.microsoft.com/office/drawing/2014/main" id="{0FF29CFB-997A-4AC7-B554-B13ACEBA9052}"/>
              </a:ext>
            </a:extLst>
          </p:cNvPr>
          <p:cNvSpPr>
            <a:spLocks xmlns:a="http://schemas.openxmlformats.org/drawingml/2006/main" noGrp="1"/>
          </p:cNvSpPr>
          <p:nvPr/>
        </p:nvSpPr>
        <p:spPr>
          <a:xfrm xmlns:a="http://schemas.openxmlformats.org/drawingml/2006/main">
            <a:off x="1000125" y="4581525"/>
            <a:ext cx="1571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Retention</a:t>
            </a:r>
          </a:p>
        </p:txBody>
      </p:sp>
      <p:sp>
        <p:nvSpPr>
          <p:cNvPr id="20" name="text-285-481">
            <a:extLst xmlns:a="http://schemas.openxmlformats.org/drawingml/2006/main">
              <a:ext uri="{FF2B5EF4-FFF2-40B4-BE49-F238E27FC236}">
                <a16:creationId xmlns:a16="http://schemas.microsoft.com/office/drawing/2014/main" id="{A10AAEBC-3EDE-431F-A64C-AD8CF31430D4}"/>
              </a:ext>
            </a:extLst>
          </p:cNvPr>
          <p:cNvSpPr>
            <a:spLocks xmlns:a="http://schemas.openxmlformats.org/drawingml/2006/main" noGrp="1"/>
          </p:cNvSpPr>
          <p:nvPr/>
        </p:nvSpPr>
        <p:spPr>
          <a:xfrm xmlns:a="http://schemas.openxmlformats.org/drawingml/2006/main">
            <a:off x="2714625" y="45815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Draft images and intermediate outputs may persist without expiry.</a:t>
            </a:r>
          </a:p>
        </p:txBody>
      </p:sp>
      <p:sp>
        <p:nvSpPr>
          <p:cNvPr id="21" name="skeptic-panel">
            <a:extLst xmlns:a="http://schemas.openxmlformats.org/drawingml/2006/main">
              <a:ext uri="{FF2B5EF4-FFF2-40B4-BE49-F238E27FC236}">
                <a16:creationId xmlns:a16="http://schemas.microsoft.com/office/drawing/2014/main" id="{8E006D6A-F197-4ECD-8BD2-9865C3F9243E}"/>
              </a:ext>
            </a:extLst>
          </p:cNvPr>
          <p:cNvSpPr>
            <a:spLocks xmlns:a="http://schemas.openxmlformats.org/drawingml/2006/main" noGrp="1"/>
          </p:cNvSpPr>
          <p:nvPr/>
        </p:nvSpPr>
        <p:spPr>
          <a:xfrm xmlns:a="http://schemas.openxmlformats.org/drawingml/2006/main">
            <a:off x="6715125" y="1666875"/>
            <a:ext cx="4524375" cy="3476625"/>
          </a:xfrm>
          <a:prstGeom xmlns:a="http://schemas.openxmlformats.org/drawingml/2006/main" prst="rect">
            <a:avLst/>
          </a:prstGeom>
          <a:solidFill xmlns:a="http://schemas.openxmlformats.org/drawingml/2006/main">
            <a:srgbClr val="173B28"/>
          </a:solidFill>
          <a:ln xmlns:a="http://schemas.openxmlformats.org/drawingml/2006/main" w="0">
            <a:solidFill>
              <a:srgbClr val="173B28"/>
            </a:solidFill>
            <a:prstDash val="solid"/>
          </a:ln>
        </p:spPr>
      </p:sp>
      <p:sp>
        <p:nvSpPr>
          <p:cNvPr id="22" name="text-745-215">
            <a:extLst xmlns:a="http://schemas.openxmlformats.org/drawingml/2006/main">
              <a:ext uri="{FF2B5EF4-FFF2-40B4-BE49-F238E27FC236}">
                <a16:creationId xmlns:a16="http://schemas.microsoft.com/office/drawing/2014/main" id="{34C3F93E-56EE-4F9A-8491-F5296E4675AF}"/>
              </a:ext>
            </a:extLst>
          </p:cNvPr>
          <p:cNvSpPr>
            <a:spLocks xmlns:a="http://schemas.openxmlformats.org/drawingml/2006/main" noGrp="1"/>
          </p:cNvSpPr>
          <p:nvPr/>
        </p:nvSpPr>
        <p:spPr>
          <a:xfrm xmlns:a="http://schemas.openxmlformats.org/drawingml/2006/main">
            <a:off x="7096125" y="2047875"/>
            <a:ext cx="3762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400" b="1" i="0">
                <a:solidFill>
                  <a:srgbClr val="FFFFFF"/>
                </a:solidFill>
              </a:defRPr>
            </a:pPr>
            <a:r>
              <a:rPr sz="2400" b="1" i="0">
                <a:solidFill>
                  <a:srgbClr val="FFFFFF"/>
                </a:solidFill>
              </a:rPr>
              <a:t>“Why should we believe this?”</a:t>
            </a:r>
          </a:p>
        </p:txBody>
      </p:sp>
      <p:cxnSp>
        <p:nvCxnSpPr>
          <p:cNvPr id="48" name="rule-745-315"/>
          <p:cNvCxnSpPr/>
          <p:nvPr/>
        </p:nvCxnSpPr>
        <p:spPr>
          <a:xfrm xmlns:a="http://schemas.openxmlformats.org/drawingml/2006/main">
            <a:off x="7096125" y="3000375"/>
            <a:ext cx="1047750" cy="95"/>
          </a:xfrm>
          <a:prstGeom xmlns:a="http://schemas.openxmlformats.org/drawingml/2006/main" prst="straightConnector1">
            <a:avLst/>
          </a:prstGeom>
          <a:ln xmlns:a="http://schemas.openxmlformats.org/drawingml/2006/main" w="47625">
            <a:solidFill>
              <a:srgbClr val="4E9D6E"/>
            </a:solidFill>
            <a:prstDash val="solid"/>
          </a:ln>
        </p:spPr>
      </p:cxnSp>
      <p:sp>
        <p:nvSpPr>
          <p:cNvPr id="24" name="text-745-350">
            <a:extLst xmlns:a="http://schemas.openxmlformats.org/drawingml/2006/main">
              <a:ext uri="{FF2B5EF4-FFF2-40B4-BE49-F238E27FC236}">
                <a16:creationId xmlns:a16="http://schemas.microsoft.com/office/drawing/2014/main" id="{55EFEFA6-0EA9-48E9-A5E5-59FB649928E7}"/>
              </a:ext>
            </a:extLst>
          </p:cNvPr>
          <p:cNvSpPr>
            <a:spLocks xmlns:a="http://schemas.openxmlformats.org/drawingml/2006/main" noGrp="1"/>
          </p:cNvSpPr>
          <p:nvPr/>
        </p:nvSpPr>
        <p:spPr>
          <a:xfrm xmlns:a="http://schemas.openxmlformats.org/drawingml/2006/main">
            <a:off x="7096125" y="3333750"/>
            <a:ext cx="37147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i="0">
                <a:solidFill>
                  <a:srgbClr val="FFFFFF"/>
                </a:solidFill>
              </a:defRPr>
            </a:pPr>
            <a:r>
              <a:rPr sz="1650" b="0" i="0">
                <a:solidFill>
                  <a:srgbClr val="FFFFFF"/>
                </a:solidFill>
              </a:rPr>
              <a:t>Because the architecture identifies where work can multiply — but the ranking remains provisional until calls, tokens, bytes and utilization are measured per R.</a:t>
            </a:r>
          </a:p>
        </p:txBody>
      </p:sp>
      <p:sp>
        <p:nvSpPr>
          <p:cNvPr id="25" name="text-705-565">
            <a:extLst xmlns:a="http://schemas.openxmlformats.org/drawingml/2006/main">
              <a:ext uri="{FF2B5EF4-FFF2-40B4-BE49-F238E27FC236}">
                <a16:creationId xmlns:a16="http://schemas.microsoft.com/office/drawing/2014/main" id="{67F06391-3DE6-4433-8FC1-379924E7442D}"/>
              </a:ext>
            </a:extLst>
          </p:cNvPr>
          <p:cNvSpPr>
            <a:spLocks xmlns:a="http://schemas.openxmlformats.org/drawingml/2006/main" noGrp="1"/>
          </p:cNvSpPr>
          <p:nvPr/>
        </p:nvSpPr>
        <p:spPr>
          <a:xfrm xmlns:a="http://schemas.openxmlformats.org/drawingml/2006/main">
            <a:off x="6715125" y="5381625"/>
            <a:ext cx="4524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1">
                <a:solidFill>
                  <a:srgbClr val="53605A"/>
                </a:solidFill>
              </a:defRPr>
            </a:pPr>
            <a:r>
              <a:rPr sz="1275" b="0" i="1">
                <a:solidFill>
                  <a:srgbClr val="53605A"/>
                </a:solidFill>
              </a:rPr>
              <a:t>Known unknown: actual energy and allocated embodied emissions from model providers.</a:t>
            </a:r>
          </a:p>
        </p:txBody>
      </p:sp>
    </p:spTree>
    <p:extLst>
      <p:ext uri="{BB962C8B-B14F-4D97-AF65-F5344CB8AC3E}">
        <p14:creationId xmlns:p14="http://schemas.microsoft.com/office/powerpoint/2010/main" val="20206626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ext-48-26">
            <a:extLst xmlns:a="http://schemas.openxmlformats.org/drawingml/2006/main">
              <a:ext uri="{FF2B5EF4-FFF2-40B4-BE49-F238E27FC236}">
                <a16:creationId xmlns:a16="http://schemas.microsoft.com/office/drawing/2014/main" id="{2082CFFD-510C-4905-82AD-5683D06AAEF0}"/>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FOUR-PILLAR MAP</a:t>
            </a:r>
          </a:p>
        </p:txBody>
      </p:sp>
      <p:sp>
        <p:nvSpPr>
          <p:cNvPr id="2" name="text-48-56">
            <a:extLst xmlns:a="http://schemas.openxmlformats.org/drawingml/2006/main">
              <a:ext uri="{FF2B5EF4-FFF2-40B4-BE49-F238E27FC236}">
                <a16:creationId xmlns:a16="http://schemas.microsoft.com/office/drawing/2014/main" id="{A55F9499-2C64-4423-B306-0313CFBB2672}"/>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9451"/>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Every hotspot touches at least one of the four green-software pillars</a:t>
            </a:r>
          </a:p>
        </p:txBody>
      </p:sp>
      <p:cxnSp>
        <p:nvCxnSpPr>
          <p:cNvPr id="29"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831D403D-82C9-4156-8975-F65C264E3F93}"/>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05</a:t>
            </a:r>
          </a:p>
        </p:txBody>
      </p:sp>
      <p:cxnSp>
        <p:nvCxnSpPr>
          <p:cNvPr id="31" name="rule-350-363"/>
          <p:cNvCxnSpPr/>
          <p:nvPr/>
        </p:nvCxnSpPr>
        <p:spPr>
          <a:xfrm xmlns:a="http://schemas.openxmlformats.org/drawingml/2006/main">
            <a:off x="3333750" y="3457575"/>
            <a:ext cx="5524500" cy="95"/>
          </a:xfrm>
          <a:prstGeom xmlns:a="http://schemas.openxmlformats.org/drawingml/2006/main" prst="straightConnector1">
            <a:avLst/>
          </a:prstGeom>
          <a:ln xmlns:a="http://schemas.openxmlformats.org/drawingml/2006/main" w="19050">
            <a:solidFill>
              <a:srgbClr val="B8C0BA"/>
            </a:solidFill>
            <a:prstDash val="solid"/>
          </a:ln>
        </p:spPr>
      </p:cxnSp>
      <p:cxnSp>
        <p:nvCxnSpPr>
          <p:cNvPr id="32" name="vrule-640-220"/>
          <p:cNvCxnSpPr/>
          <p:nvPr/>
        </p:nvCxnSpPr>
        <p:spPr>
          <a:xfrm xmlns:a="http://schemas.openxmlformats.org/drawingml/2006/main">
            <a:off x="6096000" y="2095500"/>
            <a:ext cx="95" cy="2762250"/>
          </a:xfrm>
          <a:prstGeom xmlns:a="http://schemas.openxmlformats.org/drawingml/2006/main" prst="straightConnector1">
            <a:avLst/>
          </a:prstGeom>
          <a:ln xmlns:a="http://schemas.openxmlformats.org/drawingml/2006/main" w="19050">
            <a:solidFill>
              <a:srgbClr val="B8C0BA"/>
            </a:solidFill>
            <a:prstDash val="solid"/>
          </a:ln>
        </p:spPr>
      </p:cxnSp>
      <p:sp>
        <p:nvSpPr>
          <p:cNvPr id="7" name="pillar-CARBON">
            <a:extLst xmlns:a="http://schemas.openxmlformats.org/drawingml/2006/main">
              <a:ext uri="{FF2B5EF4-FFF2-40B4-BE49-F238E27FC236}">
                <a16:creationId xmlns:a16="http://schemas.microsoft.com/office/drawing/2014/main" id="{A7EBFFF3-6D92-4418-A4A7-D6C452377343}"/>
              </a:ext>
            </a:extLst>
          </p:cNvPr>
          <p:cNvSpPr>
            <a:spLocks xmlns:a="http://schemas.openxmlformats.org/drawingml/2006/main" noGrp="1"/>
          </p:cNvSpPr>
          <p:nvPr/>
        </p:nvSpPr>
        <p:spPr>
          <a:xfrm xmlns:a="http://schemas.openxmlformats.org/drawingml/2006/main">
            <a:off x="904875" y="1619250"/>
            <a:ext cx="3810000" cy="1476375"/>
          </a:xfrm>
          <a:prstGeom xmlns:a="http://schemas.openxmlformats.org/drawingml/2006/main" prst="rect">
            <a:avLst/>
          </a:prstGeom>
          <a:solidFill xmlns:a="http://schemas.openxmlformats.org/drawingml/2006/main">
            <a:srgbClr val="DDF0E4"/>
          </a:solidFill>
          <a:ln xmlns:a="http://schemas.openxmlformats.org/drawingml/2006/main" w="9525">
            <a:solidFill>
              <a:srgbClr val="B8C0BA"/>
            </a:solidFill>
            <a:prstDash val="solid"/>
          </a:ln>
        </p:spPr>
      </p:sp>
      <p:sp>
        <p:nvSpPr>
          <p:cNvPr id="8" name="text-119-192">
            <a:extLst xmlns:a="http://schemas.openxmlformats.org/drawingml/2006/main">
              <a:ext uri="{FF2B5EF4-FFF2-40B4-BE49-F238E27FC236}">
                <a16:creationId xmlns:a16="http://schemas.microsoft.com/office/drawing/2014/main" id="{F3EFD736-C39C-435A-8263-245F55B5261D}"/>
              </a:ext>
            </a:extLst>
          </p:cNvPr>
          <p:cNvSpPr>
            <a:spLocks xmlns:a="http://schemas.openxmlformats.org/drawingml/2006/main" noGrp="1"/>
          </p:cNvSpPr>
          <p:nvPr/>
        </p:nvSpPr>
        <p:spPr>
          <a:xfrm xmlns:a="http://schemas.openxmlformats.org/drawingml/2006/main">
            <a:off x="1133475" y="18288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i="0">
                <a:solidFill>
                  <a:srgbClr val="173B28"/>
                </a:solidFill>
              </a:defRPr>
            </a:pPr>
            <a:r>
              <a:rPr sz="3600" b="1" i="0">
                <a:solidFill>
                  <a:srgbClr val="173B28"/>
                </a:solidFill>
              </a:rPr>
              <a:t>I</a:t>
            </a:r>
          </a:p>
        </p:txBody>
      </p:sp>
      <p:sp>
        <p:nvSpPr>
          <p:cNvPr id="9" name="text-190-197">
            <a:extLst xmlns:a="http://schemas.openxmlformats.org/drawingml/2006/main">
              <a:ext uri="{FF2B5EF4-FFF2-40B4-BE49-F238E27FC236}">
                <a16:creationId xmlns:a16="http://schemas.microsoft.com/office/drawing/2014/main" id="{D3CDDC72-6478-47D4-82EE-68B8E746F1AE}"/>
              </a:ext>
            </a:extLst>
          </p:cNvPr>
          <p:cNvSpPr>
            <a:spLocks xmlns:a="http://schemas.openxmlformats.org/drawingml/2006/main" noGrp="1"/>
          </p:cNvSpPr>
          <p:nvPr/>
        </p:nvSpPr>
        <p:spPr>
          <a:xfrm xmlns:a="http://schemas.openxmlformats.org/drawingml/2006/main">
            <a:off x="1809750" y="18764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CARBON</a:t>
            </a:r>
          </a:p>
        </p:txBody>
      </p:sp>
      <p:sp>
        <p:nvSpPr>
          <p:cNvPr id="10" name="text-190-235">
            <a:extLst xmlns:a="http://schemas.openxmlformats.org/drawingml/2006/main">
              <a:ext uri="{FF2B5EF4-FFF2-40B4-BE49-F238E27FC236}">
                <a16:creationId xmlns:a16="http://schemas.microsoft.com/office/drawing/2014/main" id="{352E0657-15B5-4300-B9DF-F492BCB3973C}"/>
              </a:ext>
            </a:extLst>
          </p:cNvPr>
          <p:cNvSpPr>
            <a:spLocks xmlns:a="http://schemas.openxmlformats.org/drawingml/2006/main" noGrp="1"/>
          </p:cNvSpPr>
          <p:nvPr/>
        </p:nvSpPr>
        <p:spPr>
          <a:xfrm xmlns:a="http://schemas.openxmlformats.org/drawingml/2006/main">
            <a:off x="1809750" y="22383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Region and timing change the grid carbon intensity applied to the same workload.</a:t>
            </a:r>
          </a:p>
        </p:txBody>
      </p:sp>
      <p:sp>
        <p:nvSpPr>
          <p:cNvPr id="11" name="pillar-ENERGY">
            <a:extLst xmlns:a="http://schemas.openxmlformats.org/drawingml/2006/main">
              <a:ext uri="{FF2B5EF4-FFF2-40B4-BE49-F238E27FC236}">
                <a16:creationId xmlns:a16="http://schemas.microsoft.com/office/drawing/2014/main" id="{E132C449-ECF6-45A9-A73A-49FAEF7E1FC3}"/>
              </a:ext>
            </a:extLst>
          </p:cNvPr>
          <p:cNvSpPr>
            <a:spLocks xmlns:a="http://schemas.openxmlformats.org/drawingml/2006/main" noGrp="1"/>
          </p:cNvSpPr>
          <p:nvPr/>
        </p:nvSpPr>
        <p:spPr>
          <a:xfrm xmlns:a="http://schemas.openxmlformats.org/drawingml/2006/main">
            <a:off x="7477125" y="1619250"/>
            <a:ext cx="3810000" cy="1476375"/>
          </a:xfrm>
          <a:prstGeom xmlns:a="http://schemas.openxmlformats.org/drawingml/2006/main" prst="rect">
            <a:avLst/>
          </a:prstGeom>
          <a:solidFill xmlns:a="http://schemas.openxmlformats.org/drawingml/2006/main">
            <a:srgbClr val="DFEAF5"/>
          </a:solidFill>
          <a:ln xmlns:a="http://schemas.openxmlformats.org/drawingml/2006/main" w="9525">
            <a:solidFill>
              <a:srgbClr val="B8C0BA"/>
            </a:solidFill>
            <a:prstDash val="solid"/>
          </a:ln>
        </p:spPr>
      </p:sp>
      <p:sp>
        <p:nvSpPr>
          <p:cNvPr id="12" name="text-809-192">
            <a:extLst xmlns:a="http://schemas.openxmlformats.org/drawingml/2006/main">
              <a:ext uri="{FF2B5EF4-FFF2-40B4-BE49-F238E27FC236}">
                <a16:creationId xmlns:a16="http://schemas.microsoft.com/office/drawing/2014/main" id="{15277618-96FD-4A65-9C8E-EBB1A9B76AF4}"/>
              </a:ext>
            </a:extLst>
          </p:cNvPr>
          <p:cNvSpPr>
            <a:spLocks xmlns:a="http://schemas.openxmlformats.org/drawingml/2006/main" noGrp="1"/>
          </p:cNvSpPr>
          <p:nvPr/>
        </p:nvSpPr>
        <p:spPr>
          <a:xfrm xmlns:a="http://schemas.openxmlformats.org/drawingml/2006/main">
            <a:off x="7705725" y="18288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i="0">
                <a:solidFill>
                  <a:srgbClr val="173B28"/>
                </a:solidFill>
              </a:defRPr>
            </a:pPr>
            <a:r>
              <a:rPr sz="3600" b="1" i="0">
                <a:solidFill>
                  <a:srgbClr val="173B28"/>
                </a:solidFill>
              </a:rPr>
              <a:t>E</a:t>
            </a:r>
          </a:p>
        </p:txBody>
      </p:sp>
      <p:sp>
        <p:nvSpPr>
          <p:cNvPr id="13" name="text-880-197">
            <a:extLst xmlns:a="http://schemas.openxmlformats.org/drawingml/2006/main">
              <a:ext uri="{FF2B5EF4-FFF2-40B4-BE49-F238E27FC236}">
                <a16:creationId xmlns:a16="http://schemas.microsoft.com/office/drawing/2014/main" id="{09F75597-42BD-4399-9D6C-8D20E682EB61}"/>
              </a:ext>
            </a:extLst>
          </p:cNvPr>
          <p:cNvSpPr>
            <a:spLocks xmlns:a="http://schemas.openxmlformats.org/drawingml/2006/main" noGrp="1"/>
          </p:cNvSpPr>
          <p:nvPr/>
        </p:nvSpPr>
        <p:spPr>
          <a:xfrm xmlns:a="http://schemas.openxmlformats.org/drawingml/2006/main">
            <a:off x="8382000" y="18764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ENERGY</a:t>
            </a:r>
          </a:p>
        </p:txBody>
      </p:sp>
      <p:sp>
        <p:nvSpPr>
          <p:cNvPr id="14" name="text-880-235">
            <a:extLst xmlns:a="http://schemas.openxmlformats.org/drawingml/2006/main">
              <a:ext uri="{FF2B5EF4-FFF2-40B4-BE49-F238E27FC236}">
                <a16:creationId xmlns:a16="http://schemas.microsoft.com/office/drawing/2014/main" id="{E3E5D38D-EB69-4676-9B4D-8BBF80A2C345}"/>
              </a:ext>
            </a:extLst>
          </p:cNvPr>
          <p:cNvSpPr>
            <a:spLocks xmlns:a="http://schemas.openxmlformats.org/drawingml/2006/main" noGrp="1"/>
          </p:cNvSpPr>
          <p:nvPr/>
        </p:nvSpPr>
        <p:spPr>
          <a:xfrm xmlns:a="http://schemas.openxmlformats.org/drawingml/2006/main">
            <a:off x="8382000" y="22383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Calls, tokens, image generation, transfer and idle runtime drive electricity demand.</a:t>
            </a:r>
          </a:p>
        </p:txBody>
      </p:sp>
      <p:sp>
        <p:nvSpPr>
          <p:cNvPr id="15" name="pillar-HARDWARE">
            <a:extLst xmlns:a="http://schemas.openxmlformats.org/drawingml/2006/main">
              <a:ext uri="{FF2B5EF4-FFF2-40B4-BE49-F238E27FC236}">
                <a16:creationId xmlns:a16="http://schemas.microsoft.com/office/drawing/2014/main" id="{DEED5DBB-247C-4F59-BA9D-8A34F04E9822}"/>
              </a:ext>
            </a:extLst>
          </p:cNvPr>
          <p:cNvSpPr>
            <a:spLocks xmlns:a="http://schemas.openxmlformats.org/drawingml/2006/main" noGrp="1"/>
          </p:cNvSpPr>
          <p:nvPr/>
        </p:nvSpPr>
        <p:spPr>
          <a:xfrm xmlns:a="http://schemas.openxmlformats.org/drawingml/2006/main">
            <a:off x="904875" y="3905250"/>
            <a:ext cx="3810000" cy="1476375"/>
          </a:xfrm>
          <a:prstGeom xmlns:a="http://schemas.openxmlformats.org/drawingml/2006/main" prst="rect">
            <a:avLst/>
          </a:prstGeom>
          <a:solidFill xmlns:a="http://schemas.openxmlformats.org/drawingml/2006/main">
            <a:srgbClr val="EDF0EC"/>
          </a:solidFill>
          <a:ln xmlns:a="http://schemas.openxmlformats.org/drawingml/2006/main" w="9525">
            <a:solidFill>
              <a:srgbClr val="B8C0BA"/>
            </a:solidFill>
            <a:prstDash val="solid"/>
          </a:ln>
        </p:spPr>
      </p:sp>
      <p:sp>
        <p:nvSpPr>
          <p:cNvPr id="16" name="text-119-432">
            <a:extLst xmlns:a="http://schemas.openxmlformats.org/drawingml/2006/main">
              <a:ext uri="{FF2B5EF4-FFF2-40B4-BE49-F238E27FC236}">
                <a16:creationId xmlns:a16="http://schemas.microsoft.com/office/drawing/2014/main" id="{87F45B43-B7E5-4FFE-BE81-3E2FE916D2E2}"/>
              </a:ext>
            </a:extLst>
          </p:cNvPr>
          <p:cNvSpPr>
            <a:spLocks xmlns:a="http://schemas.openxmlformats.org/drawingml/2006/main" noGrp="1"/>
          </p:cNvSpPr>
          <p:nvPr/>
        </p:nvSpPr>
        <p:spPr>
          <a:xfrm xmlns:a="http://schemas.openxmlformats.org/drawingml/2006/main">
            <a:off x="1133475" y="41148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i="0">
                <a:solidFill>
                  <a:srgbClr val="173B28"/>
                </a:solidFill>
              </a:defRPr>
            </a:pPr>
            <a:r>
              <a:rPr sz="3600" b="1" i="0">
                <a:solidFill>
                  <a:srgbClr val="173B28"/>
                </a:solidFill>
              </a:rPr>
              <a:t>M</a:t>
            </a:r>
          </a:p>
        </p:txBody>
      </p:sp>
      <p:sp>
        <p:nvSpPr>
          <p:cNvPr id="17" name="text-190-437">
            <a:extLst xmlns:a="http://schemas.openxmlformats.org/drawingml/2006/main">
              <a:ext uri="{FF2B5EF4-FFF2-40B4-BE49-F238E27FC236}">
                <a16:creationId xmlns:a16="http://schemas.microsoft.com/office/drawing/2014/main" id="{9ADAA040-BC4B-4CD7-9EF5-0EAB72CF1827}"/>
              </a:ext>
            </a:extLst>
          </p:cNvPr>
          <p:cNvSpPr>
            <a:spLocks xmlns:a="http://schemas.openxmlformats.org/drawingml/2006/main" noGrp="1"/>
          </p:cNvSpPr>
          <p:nvPr/>
        </p:nvSpPr>
        <p:spPr>
          <a:xfrm xmlns:a="http://schemas.openxmlformats.org/drawingml/2006/main">
            <a:off x="1809750" y="41624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HARDWARE</a:t>
            </a:r>
          </a:p>
        </p:txBody>
      </p:sp>
      <p:sp>
        <p:nvSpPr>
          <p:cNvPr id="18" name="text-190-475">
            <a:extLst xmlns:a="http://schemas.openxmlformats.org/drawingml/2006/main">
              <a:ext uri="{FF2B5EF4-FFF2-40B4-BE49-F238E27FC236}">
                <a16:creationId xmlns:a16="http://schemas.microsoft.com/office/drawing/2014/main" id="{6B8D8B2E-BC4F-4079-8B0B-340FC98DDBAB}"/>
              </a:ext>
            </a:extLst>
          </p:cNvPr>
          <p:cNvSpPr>
            <a:spLocks xmlns:a="http://schemas.openxmlformats.org/drawingml/2006/main" noGrp="1"/>
          </p:cNvSpPr>
          <p:nvPr/>
        </p:nvSpPr>
        <p:spPr>
          <a:xfrm xmlns:a="http://schemas.openxmlformats.org/drawingml/2006/main">
            <a:off x="1809750" y="45243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Reserved compute and retained media allocate a share of embodied hardware emissions.</a:t>
            </a:r>
          </a:p>
        </p:txBody>
      </p:sp>
      <p:sp>
        <p:nvSpPr>
          <p:cNvPr id="19" name="pillar-MEASUREMENT">
            <a:extLst xmlns:a="http://schemas.openxmlformats.org/drawingml/2006/main">
              <a:ext uri="{FF2B5EF4-FFF2-40B4-BE49-F238E27FC236}">
                <a16:creationId xmlns:a16="http://schemas.microsoft.com/office/drawing/2014/main" id="{B8782924-8C56-435D-93A6-E2E95207ABBC}"/>
              </a:ext>
            </a:extLst>
          </p:cNvPr>
          <p:cNvSpPr>
            <a:spLocks xmlns:a="http://schemas.openxmlformats.org/drawingml/2006/main" noGrp="1"/>
          </p:cNvSpPr>
          <p:nvPr/>
        </p:nvSpPr>
        <p:spPr>
          <a:xfrm xmlns:a="http://schemas.openxmlformats.org/drawingml/2006/main">
            <a:off x="7477125" y="3905250"/>
            <a:ext cx="3810000" cy="1476375"/>
          </a:xfrm>
          <a:prstGeom xmlns:a="http://schemas.openxmlformats.org/drawingml/2006/main" prst="rect">
            <a:avLst/>
          </a:prstGeom>
          <a:solidFill xmlns:a="http://schemas.openxmlformats.org/drawingml/2006/main">
            <a:srgbClr val="F6E7DB"/>
          </a:solidFill>
          <a:ln xmlns:a="http://schemas.openxmlformats.org/drawingml/2006/main" w="9525">
            <a:solidFill>
              <a:srgbClr val="B8C0BA"/>
            </a:solidFill>
            <a:prstDash val="solid"/>
          </a:ln>
        </p:spPr>
      </p:sp>
      <p:sp>
        <p:nvSpPr>
          <p:cNvPr id="20" name="text-809-432">
            <a:extLst xmlns:a="http://schemas.openxmlformats.org/drawingml/2006/main">
              <a:ext uri="{FF2B5EF4-FFF2-40B4-BE49-F238E27FC236}">
                <a16:creationId xmlns:a16="http://schemas.microsoft.com/office/drawing/2014/main" id="{CCE070B0-38B4-43C0-B2E9-5769841DA76A}"/>
              </a:ext>
            </a:extLst>
          </p:cNvPr>
          <p:cNvSpPr>
            <a:spLocks xmlns:a="http://schemas.openxmlformats.org/drawingml/2006/main" noGrp="1"/>
          </p:cNvSpPr>
          <p:nvPr/>
        </p:nvSpPr>
        <p:spPr>
          <a:xfrm xmlns:a="http://schemas.openxmlformats.org/drawingml/2006/main">
            <a:off x="7705725" y="4114800"/>
            <a:ext cx="5238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600" b="1" i="0">
                <a:solidFill>
                  <a:srgbClr val="173B28"/>
                </a:solidFill>
              </a:defRPr>
            </a:pPr>
            <a:r>
              <a:rPr sz="3600" b="1" i="0">
                <a:solidFill>
                  <a:srgbClr val="173B28"/>
                </a:solidFill>
              </a:rPr>
              <a:t>R</a:t>
            </a:r>
          </a:p>
        </p:txBody>
      </p:sp>
      <p:sp>
        <p:nvSpPr>
          <p:cNvPr id="21" name="text-880-437">
            <a:extLst xmlns:a="http://schemas.openxmlformats.org/drawingml/2006/main">
              <a:ext uri="{FF2B5EF4-FFF2-40B4-BE49-F238E27FC236}">
                <a16:creationId xmlns:a16="http://schemas.microsoft.com/office/drawing/2014/main" id="{683DC830-ECB5-40C5-812A-869D36B3BFC0}"/>
              </a:ext>
            </a:extLst>
          </p:cNvPr>
          <p:cNvSpPr>
            <a:spLocks xmlns:a="http://schemas.openxmlformats.org/drawingml/2006/main" noGrp="1"/>
          </p:cNvSpPr>
          <p:nvPr/>
        </p:nvSpPr>
        <p:spPr>
          <a:xfrm xmlns:a="http://schemas.openxmlformats.org/drawingml/2006/main">
            <a:off x="8382000" y="41624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i="0">
                <a:solidFill>
                  <a:srgbClr val="101412"/>
                </a:solidFill>
              </a:defRPr>
            </a:pPr>
            <a:r>
              <a:rPr sz="1575" b="1" i="0">
                <a:solidFill>
                  <a:srgbClr val="101412"/>
                </a:solidFill>
              </a:rPr>
              <a:t>MEASUREMENT</a:t>
            </a:r>
          </a:p>
        </p:txBody>
      </p:sp>
      <p:sp>
        <p:nvSpPr>
          <p:cNvPr id="22" name="text-880-475">
            <a:extLst xmlns:a="http://schemas.openxmlformats.org/drawingml/2006/main">
              <a:ext uri="{FF2B5EF4-FFF2-40B4-BE49-F238E27FC236}">
                <a16:creationId xmlns:a16="http://schemas.microsoft.com/office/drawing/2014/main" id="{C000FDF0-BC46-4B85-ADF3-18A233344979}"/>
              </a:ext>
            </a:extLst>
          </p:cNvPr>
          <p:cNvSpPr>
            <a:spLocks xmlns:a="http://schemas.openxmlformats.org/drawingml/2006/main" noGrp="1"/>
          </p:cNvSpPr>
          <p:nvPr/>
        </p:nvSpPr>
        <p:spPr>
          <a:xfrm xmlns:a="http://schemas.openxmlformats.org/drawingml/2006/main">
            <a:off x="8382000" y="4524375"/>
            <a:ext cx="257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A stable functional unit turns operational signals into comparable rates.</a:t>
            </a:r>
          </a:p>
        </p:txBody>
      </p:sp>
      <p:sp>
        <p:nvSpPr>
          <p:cNvPr id="23" name="center-r">
            <a:extLst xmlns:a="http://schemas.openxmlformats.org/drawingml/2006/main">
              <a:ext uri="{FF2B5EF4-FFF2-40B4-BE49-F238E27FC236}">
                <a16:creationId xmlns:a16="http://schemas.microsoft.com/office/drawing/2014/main" id="{D1BD53E5-1A95-4053-A279-A9B92DB51B08}"/>
              </a:ext>
            </a:extLst>
          </p:cNvPr>
          <p:cNvSpPr>
            <a:spLocks xmlns:a="http://schemas.openxmlformats.org/drawingml/2006/main" noGrp="1"/>
          </p:cNvSpPr>
          <p:nvPr/>
        </p:nvSpPr>
        <p:spPr>
          <a:xfrm xmlns:a="http://schemas.openxmlformats.org/drawingml/2006/main">
            <a:off x="5410200" y="2771775"/>
            <a:ext cx="1381125" cy="1381125"/>
          </a:xfrm>
          <a:prstGeom xmlns:a="http://schemas.openxmlformats.org/drawingml/2006/main" prst="ellipse">
            <a:avLst/>
          </a:prstGeom>
          <a:solidFill xmlns:a="http://schemas.openxmlformats.org/drawingml/2006/main">
            <a:srgbClr val="173B28"/>
          </a:solidFill>
          <a:ln xmlns:a="http://schemas.openxmlformats.org/drawingml/2006/main" w="57150">
            <a:solidFill>
              <a:srgbClr val="FFFFFF"/>
            </a:solidFill>
            <a:prstDash val="solid"/>
          </a:ln>
        </p:spPr>
      </p:sp>
      <p:sp>
        <p:nvSpPr>
          <p:cNvPr id="24" name="text-568-320">
            <a:extLst xmlns:a="http://schemas.openxmlformats.org/drawingml/2006/main">
              <a:ext uri="{FF2B5EF4-FFF2-40B4-BE49-F238E27FC236}">
                <a16:creationId xmlns:a16="http://schemas.microsoft.com/office/drawing/2014/main" id="{736FD0F9-9B2E-4649-AD81-4674331D8864}"/>
              </a:ext>
            </a:extLst>
          </p:cNvPr>
          <p:cNvSpPr>
            <a:spLocks xmlns:a="http://schemas.openxmlformats.org/drawingml/2006/main" noGrp="1"/>
          </p:cNvSpPr>
          <p:nvPr/>
        </p:nvSpPr>
        <p:spPr>
          <a:xfrm xmlns:a="http://schemas.openxmlformats.org/drawingml/2006/main">
            <a:off x="5410200" y="3048000"/>
            <a:ext cx="1381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i="0">
                <a:solidFill>
                  <a:srgbClr val="FFFFFF"/>
                </a:solidFill>
              </a:defRPr>
            </a:pPr>
            <a:r>
              <a:rPr sz="1950" b="1" i="0">
                <a:solidFill>
                  <a:srgbClr val="FFFFFF"/>
                </a:solidFill>
              </a:rPr>
              <a:t>MIRA</a:t>
            </a:r>
          </a:p>
        </p:txBody>
      </p:sp>
      <p:sp>
        <p:nvSpPr>
          <p:cNvPr id="25" name="text-568-360">
            <a:extLst xmlns:a="http://schemas.openxmlformats.org/drawingml/2006/main">
              <a:ext uri="{FF2B5EF4-FFF2-40B4-BE49-F238E27FC236}">
                <a16:creationId xmlns:a16="http://schemas.microsoft.com/office/drawing/2014/main" id="{F9B09C47-095E-4E38-AC34-6DFC178B79AD}"/>
              </a:ext>
            </a:extLst>
          </p:cNvPr>
          <p:cNvSpPr>
            <a:spLocks xmlns:a="http://schemas.openxmlformats.org/drawingml/2006/main" noGrp="1"/>
          </p:cNvSpPr>
          <p:nvPr/>
        </p:nvSpPr>
        <p:spPr>
          <a:xfrm xmlns:a="http://schemas.openxmlformats.org/drawingml/2006/main">
            <a:off x="5410200" y="3429000"/>
            <a:ext cx="1381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i="0">
                <a:solidFill>
                  <a:srgbClr val="FFFFFF"/>
                </a:solidFill>
              </a:defRPr>
            </a:pPr>
            <a:r>
              <a:rPr sz="1350" b="0" i="0">
                <a:solidFill>
                  <a:srgbClr val="FFFFFF"/>
                </a:solidFill>
              </a:rPr>
              <a:t>per R</a:t>
            </a:r>
          </a:p>
        </p:txBody>
      </p:sp>
      <p:sp>
        <p:nvSpPr>
          <p:cNvPr id="26" name="text-420-596">
            <a:extLst xmlns:a="http://schemas.openxmlformats.org/drawingml/2006/main">
              <a:ext uri="{FF2B5EF4-FFF2-40B4-BE49-F238E27FC236}">
                <a16:creationId xmlns:a16="http://schemas.microsoft.com/office/drawing/2014/main" id="{7F4E5C13-9BD3-47F5-B6B4-E4D6C2FE58E8}"/>
              </a:ext>
            </a:extLst>
          </p:cNvPr>
          <p:cNvSpPr>
            <a:spLocks xmlns:a="http://schemas.openxmlformats.org/drawingml/2006/main" noGrp="1"/>
          </p:cNvSpPr>
          <p:nvPr/>
        </p:nvSpPr>
        <p:spPr>
          <a:xfrm xmlns:a="http://schemas.openxmlformats.org/drawingml/2006/main">
            <a:off x="4000500" y="56769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1" i="0">
                <a:solidFill>
                  <a:srgbClr val="173B28"/>
                </a:solidFill>
              </a:defRPr>
            </a:pPr>
            <a:r>
              <a:rPr sz="1425" b="1" i="0">
                <a:solidFill>
                  <a:srgbClr val="173B28"/>
                </a:solidFill>
              </a:rPr>
              <a:t>SCI-style frame: (E × I + M) per R</a:t>
            </a:r>
          </a:p>
        </p:txBody>
      </p:sp>
    </p:spTree>
    <p:extLst>
      <p:ext uri="{BB962C8B-B14F-4D97-AF65-F5344CB8AC3E}">
        <p14:creationId xmlns:p14="http://schemas.microsoft.com/office/powerpoint/2010/main" val="51859577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48-26">
            <a:extLst xmlns:a="http://schemas.openxmlformats.org/drawingml/2006/main">
              <a:ext uri="{FF2B5EF4-FFF2-40B4-BE49-F238E27FC236}">
                <a16:creationId xmlns:a16="http://schemas.microsoft.com/office/drawing/2014/main" id="{5A0C4815-AD76-4612-A5EB-CD27EE56CA32}"/>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MIRA · PATH B GREEN RETROFIT</a:t>
            </a:r>
          </a:p>
        </p:txBody>
      </p:sp>
      <p:sp>
        <p:nvSpPr>
          <p:cNvPr id="2" name="text-48-56">
            <a:extLst xmlns:a="http://schemas.openxmlformats.org/drawingml/2006/main">
              <a:ext uri="{FF2B5EF4-FFF2-40B4-BE49-F238E27FC236}">
                <a16:creationId xmlns:a16="http://schemas.microsoft.com/office/drawing/2014/main" id="{8DCAB8AD-C538-4139-B489-7AB09DF45842}"/>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Make every submission idempotent before calling a model</a:t>
            </a:r>
          </a:p>
        </p:txBody>
      </p:sp>
      <p:cxnSp>
        <p:nvCxnSpPr>
          <p:cNvPr id="22"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41390113-C895-45C2-8904-A83C6151084E}"/>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06</a:t>
            </a:r>
          </a:p>
        </p:txBody>
      </p:sp>
      <p:sp>
        <p:nvSpPr>
          <p:cNvPr id="5" name="text-48-158">
            <a:extLst xmlns:a="http://schemas.openxmlformats.org/drawingml/2006/main">
              <a:ext uri="{FF2B5EF4-FFF2-40B4-BE49-F238E27FC236}">
                <a16:creationId xmlns:a16="http://schemas.microsoft.com/office/drawing/2014/main" id="{8C6C79CC-A169-4EF4-92CC-32BA34CF05AA}"/>
              </a:ext>
            </a:extLst>
          </p:cNvPr>
          <p:cNvSpPr>
            <a:spLocks xmlns:a="http://schemas.openxmlformats.org/drawingml/2006/main" noGrp="1"/>
          </p:cNvSpPr>
          <p:nvPr/>
        </p:nvSpPr>
        <p:spPr>
          <a:xfrm xmlns:a="http://schemas.openxmlformats.org/drawingml/2006/main">
            <a:off x="457200" y="1504950"/>
            <a:ext cx="11049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050" b="1" i="0">
                <a:solidFill>
                  <a:srgbClr val="4E9D6E"/>
                </a:solidFill>
              </a:defRPr>
            </a:pPr>
            <a:r>
              <a:rPr sz="7050" b="1" i="0">
                <a:solidFill>
                  <a:srgbClr val="4E9D6E"/>
                </a:solidFill>
              </a:rPr>
              <a:t>01</a:t>
            </a:r>
          </a:p>
        </p:txBody>
      </p:sp>
      <p:sp>
        <p:nvSpPr>
          <p:cNvPr id="6" name="text-48-280">
            <a:extLst xmlns:a="http://schemas.openxmlformats.org/drawingml/2006/main">
              <a:ext uri="{FF2B5EF4-FFF2-40B4-BE49-F238E27FC236}">
                <a16:creationId xmlns:a16="http://schemas.microsoft.com/office/drawing/2014/main" id="{2562831A-223E-48E5-8118-C30B502FA451}"/>
              </a:ext>
            </a:extLst>
          </p:cNvPr>
          <p:cNvSpPr>
            <a:spLocks xmlns:a="http://schemas.openxmlformats.org/drawingml/2006/main" noGrp="1"/>
          </p:cNvSpPr>
          <p:nvPr/>
        </p:nvSpPr>
        <p:spPr>
          <a:xfrm xmlns:a="http://schemas.openxmlformats.org/drawingml/2006/main">
            <a:off x="457200" y="26670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01412"/>
                </a:solidFill>
              </a:defRPr>
            </a:pPr>
            <a:r>
              <a:rPr sz="1725" b="1" i="0">
                <a:solidFill>
                  <a:srgbClr val="101412"/>
                </a:solidFill>
              </a:rPr>
              <a:t>Remove repeated work first</a:t>
            </a:r>
          </a:p>
        </p:txBody>
      </p:sp>
      <p:sp>
        <p:nvSpPr>
          <p:cNvPr id="7" name="text-48-410">
            <a:extLst xmlns:a="http://schemas.openxmlformats.org/drawingml/2006/main">
              <a:ext uri="{FF2B5EF4-FFF2-40B4-BE49-F238E27FC236}">
                <a16:creationId xmlns:a16="http://schemas.microsoft.com/office/drawing/2014/main" id="{C2AC870B-3713-4953-9878-C518F45D2CE7}"/>
              </a:ext>
            </a:extLst>
          </p:cNvPr>
          <p:cNvSpPr>
            <a:spLocks xmlns:a="http://schemas.openxmlformats.org/drawingml/2006/main" noGrp="1"/>
          </p:cNvSpPr>
          <p:nvPr/>
        </p:nvSpPr>
        <p:spPr>
          <a:xfrm xmlns:a="http://schemas.openxmlformats.org/drawingml/2006/main">
            <a:off x="457200" y="39052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Fastest likely win for API cost, latency and compute per usable plan.</a:t>
            </a:r>
          </a:p>
        </p:txBody>
      </p:sp>
      <p:cxnSp>
        <p:nvCxnSpPr>
          <p:cNvPr id="27" name="vrule-308-160"/>
          <p:cNvCxnSpPr/>
          <p:nvPr/>
        </p:nvCxnSpPr>
        <p:spPr>
          <a:xfrm xmlns:a="http://schemas.openxmlformats.org/drawingml/2006/main">
            <a:off x="2933700" y="1524000"/>
            <a:ext cx="95" cy="4171950"/>
          </a:xfrm>
          <a:prstGeom xmlns:a="http://schemas.openxmlformats.org/drawingml/2006/main" prst="straightConnector1">
            <a:avLst/>
          </a:prstGeom>
          <a:ln xmlns:a="http://schemas.openxmlformats.org/drawingml/2006/main" w="9525">
            <a:solidFill>
              <a:srgbClr val="B8C0BA"/>
            </a:solidFill>
            <a:prstDash val="solid"/>
          </a:ln>
        </p:spPr>
      </p:cxnSp>
      <p:sp>
        <p:nvSpPr>
          <p:cNvPr id="9" name="text-350-172">
            <a:extLst xmlns:a="http://schemas.openxmlformats.org/drawingml/2006/main">
              <a:ext uri="{FF2B5EF4-FFF2-40B4-BE49-F238E27FC236}">
                <a16:creationId xmlns:a16="http://schemas.microsoft.com/office/drawing/2014/main" id="{FB4B73A4-B013-4D78-A81D-857B475C1D07}"/>
              </a:ext>
            </a:extLst>
          </p:cNvPr>
          <p:cNvSpPr>
            <a:spLocks xmlns:a="http://schemas.openxmlformats.org/drawingml/2006/main" noGrp="1"/>
          </p:cNvSpPr>
          <p:nvPr/>
        </p:nvSpPr>
        <p:spPr>
          <a:xfrm xmlns:a="http://schemas.openxmlformats.org/drawingml/2006/main">
            <a:off x="333375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D48449"/>
                </a:solidFill>
              </a:defRPr>
            </a:pPr>
            <a:r>
              <a:rPr sz="975" b="1" i="0">
                <a:solidFill>
                  <a:srgbClr val="D48449"/>
                </a:solidFill>
              </a:rPr>
              <a:t>PROBLEM</a:t>
            </a:r>
          </a:p>
        </p:txBody>
      </p:sp>
      <p:sp>
        <p:nvSpPr>
          <p:cNvPr id="10" name="text-350-212">
            <a:extLst xmlns:a="http://schemas.openxmlformats.org/drawingml/2006/main">
              <a:ext uri="{FF2B5EF4-FFF2-40B4-BE49-F238E27FC236}">
                <a16:creationId xmlns:a16="http://schemas.microsoft.com/office/drawing/2014/main" id="{1C3C602A-0530-4BA1-B747-D2AB42BA0C5D}"/>
              </a:ext>
            </a:extLst>
          </p:cNvPr>
          <p:cNvSpPr>
            <a:spLocks xmlns:a="http://schemas.openxmlformats.org/drawingml/2006/main" noGrp="1"/>
          </p:cNvSpPr>
          <p:nvPr/>
        </p:nvSpPr>
        <p:spPr>
          <a:xfrm xmlns:a="http://schemas.openxmlformats.org/drawingml/2006/main">
            <a:off x="333375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Retries, resubmissions or unchanged questionnaire sections can trigger the full model chain again.</a:t>
            </a:r>
          </a:p>
        </p:txBody>
      </p:sp>
      <p:sp>
        <p:nvSpPr>
          <p:cNvPr id="11" name="text-625-172">
            <a:extLst xmlns:a="http://schemas.openxmlformats.org/drawingml/2006/main">
              <a:ext uri="{FF2B5EF4-FFF2-40B4-BE49-F238E27FC236}">
                <a16:creationId xmlns:a16="http://schemas.microsoft.com/office/drawing/2014/main" id="{73E2CDE2-CE2E-40C4-BF5B-AF93C2576746}"/>
              </a:ext>
            </a:extLst>
          </p:cNvPr>
          <p:cNvSpPr>
            <a:spLocks xmlns:a="http://schemas.openxmlformats.org/drawingml/2006/main" noGrp="1"/>
          </p:cNvSpPr>
          <p:nvPr/>
        </p:nvSpPr>
        <p:spPr>
          <a:xfrm xmlns:a="http://schemas.openxmlformats.org/drawingml/2006/main">
            <a:off x="5953125"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CHANGE</a:t>
            </a:r>
          </a:p>
        </p:txBody>
      </p:sp>
      <p:sp>
        <p:nvSpPr>
          <p:cNvPr id="12" name="text-625-212">
            <a:extLst xmlns:a="http://schemas.openxmlformats.org/drawingml/2006/main">
              <a:ext uri="{FF2B5EF4-FFF2-40B4-BE49-F238E27FC236}">
                <a16:creationId xmlns:a16="http://schemas.microsoft.com/office/drawing/2014/main" id="{E2F8F5B3-B377-42D5-BA43-65CEF0B00996}"/>
              </a:ext>
            </a:extLst>
          </p:cNvPr>
          <p:cNvSpPr>
            <a:spLocks xmlns:a="http://schemas.openxmlformats.org/drawingml/2006/main" noGrp="1"/>
          </p:cNvSpPr>
          <p:nvPr/>
        </p:nvSpPr>
        <p:spPr>
          <a:xfrm xmlns:a="http://schemas.openxmlformats.org/drawingml/2006/main">
            <a:off x="5953125"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Normalize the input, create an idempotency key and cache the plan. Regenerate only the section whose inputs changed.</a:t>
            </a:r>
          </a:p>
        </p:txBody>
      </p:sp>
      <p:sp>
        <p:nvSpPr>
          <p:cNvPr id="13" name="text-900-172">
            <a:extLst xmlns:a="http://schemas.openxmlformats.org/drawingml/2006/main">
              <a:ext uri="{FF2B5EF4-FFF2-40B4-BE49-F238E27FC236}">
                <a16:creationId xmlns:a16="http://schemas.microsoft.com/office/drawing/2014/main" id="{20220964-48E8-4322-B9CC-B945EA6FAA36}"/>
              </a:ext>
            </a:extLst>
          </p:cNvPr>
          <p:cNvSpPr>
            <a:spLocks xmlns:a="http://schemas.openxmlformats.org/drawingml/2006/main" noGrp="1"/>
          </p:cNvSpPr>
          <p:nvPr/>
        </p:nvSpPr>
        <p:spPr>
          <a:xfrm xmlns:a="http://schemas.openxmlformats.org/drawingml/2006/main">
            <a:off x="857250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PROOF / GUARDRAIL</a:t>
            </a:r>
          </a:p>
        </p:txBody>
      </p:sp>
      <p:sp>
        <p:nvSpPr>
          <p:cNvPr id="14" name="text-900-212">
            <a:extLst xmlns:a="http://schemas.openxmlformats.org/drawingml/2006/main">
              <a:ext uri="{FF2B5EF4-FFF2-40B4-BE49-F238E27FC236}">
                <a16:creationId xmlns:a16="http://schemas.microsoft.com/office/drawing/2014/main" id="{7370D00E-E603-43C7-B86C-CCA49EC56C3C}"/>
              </a:ext>
            </a:extLst>
          </p:cNvPr>
          <p:cNvSpPr>
            <a:spLocks xmlns:a="http://schemas.openxmlformats.org/drawingml/2006/main" noGrp="1"/>
          </p:cNvSpPr>
          <p:nvPr/>
        </p:nvSpPr>
        <p:spPr>
          <a:xfrm xmlns:a="http://schemas.openxmlformats.org/drawingml/2006/main">
            <a:off x="857250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Track cache-hit rate, duplicate calls prevented and model calls per R. Expire or invalidate cache entries when inputs or prompts change.</a:t>
            </a:r>
          </a:p>
        </p:txBody>
      </p:sp>
      <p:sp>
        <p:nvSpPr>
          <p:cNvPr id="15" name="impact-strip">
            <a:extLst xmlns:a="http://schemas.openxmlformats.org/drawingml/2006/main">
              <a:ext uri="{FF2B5EF4-FFF2-40B4-BE49-F238E27FC236}">
                <a16:creationId xmlns:a16="http://schemas.microsoft.com/office/drawing/2014/main" id="{1A739A0F-93C1-4853-AE7F-56BC4ECDA192}"/>
              </a:ext>
            </a:extLst>
          </p:cNvPr>
          <p:cNvSpPr>
            <a:spLocks xmlns:a="http://schemas.openxmlformats.org/drawingml/2006/main" noGrp="1"/>
          </p:cNvSpPr>
          <p:nvPr/>
        </p:nvSpPr>
        <p:spPr>
          <a:xfrm xmlns:a="http://schemas.openxmlformats.org/drawingml/2006/main">
            <a:off x="3333750" y="5286375"/>
            <a:ext cx="7381875" cy="552450"/>
          </a:xfrm>
          <a:prstGeom xmlns:a="http://schemas.openxmlformats.org/drawingml/2006/main" prst="rect">
            <a:avLst/>
          </a:prstGeom>
          <a:solidFill xmlns:a="http://schemas.openxmlformats.org/drawingml/2006/main">
            <a:srgbClr val="DDF0E4"/>
          </a:solidFill>
          <a:ln xmlns:a="http://schemas.openxmlformats.org/drawingml/2006/main" w="0">
            <a:solidFill>
              <a:srgbClr val="DDF0E4"/>
            </a:solidFill>
            <a:prstDash val="solid"/>
          </a:ln>
        </p:spPr>
      </p:sp>
      <p:sp>
        <p:nvSpPr>
          <p:cNvPr id="16" name="text-372-569">
            <a:extLst xmlns:a="http://schemas.openxmlformats.org/drawingml/2006/main">
              <a:ext uri="{FF2B5EF4-FFF2-40B4-BE49-F238E27FC236}">
                <a16:creationId xmlns:a16="http://schemas.microsoft.com/office/drawing/2014/main" id="{CFAE37E6-4FE9-4C13-BDDB-7FB234CA08B7}"/>
              </a:ext>
            </a:extLst>
          </p:cNvPr>
          <p:cNvSpPr>
            <a:spLocks xmlns:a="http://schemas.openxmlformats.org/drawingml/2006/main" noGrp="1"/>
          </p:cNvSpPr>
          <p:nvPr/>
        </p:nvSpPr>
        <p:spPr>
          <a:xfrm xmlns:a="http://schemas.openxmlformats.org/drawingml/2006/main">
            <a:off x="3543300" y="5419725"/>
            <a:ext cx="695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4097"/>
          </a:bodyPr>
          <a:lstStyle xmlns:a="http://schemas.openxmlformats.org/drawingml/2006/main"/>
          <a:p xmlns:a="http://schemas.openxmlformats.org/drawingml/2006/main">
            <a:pPr algn="l">
              <a:defRPr sz="1350" b="1" i="0">
                <a:solidFill>
                  <a:srgbClr val="173B28"/>
                </a:solidFill>
              </a:defRPr>
            </a:pPr>
            <a:r>
              <a:rPr sz="1350" b="1" i="0">
                <a:solidFill>
                  <a:srgbClr val="173B28"/>
                </a:solidFill>
              </a:rPr>
              <a:t>Expected direction: fewer redundant calls, fewer repeated transfers and a lower cost per R.</a:t>
            </a:r>
          </a:p>
        </p:txBody>
      </p:sp>
      <p:cxnSp>
        <p:nvCxnSpPr>
          <p:cNvPr id="36" name="rule-48-645"/>
          <p:cNvCxnSpPr/>
          <p:nvPr/>
        </p:nvCxnSpPr>
        <p:spPr>
          <a:xfrm xmlns:a="http://schemas.openxmlformats.org/drawingml/2006/main">
            <a:off x="457200" y="6143625"/>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18" name="text-48-658">
            <a:extLst xmlns:a="http://schemas.openxmlformats.org/drawingml/2006/main">
              <a:ext uri="{FF2B5EF4-FFF2-40B4-BE49-F238E27FC236}">
                <a16:creationId xmlns:a16="http://schemas.microsoft.com/office/drawing/2014/main" id="{B41766B3-BE60-4693-B319-DE9E1E5EF3F4}"/>
              </a:ext>
            </a:extLst>
          </p:cNvPr>
          <p:cNvSpPr>
            <a:spLocks xmlns:a="http://schemas.openxmlformats.org/drawingml/2006/main" noGrp="1"/>
          </p:cNvSpPr>
          <p:nvPr/>
        </p:nvSpPr>
        <p:spPr>
          <a:xfrm xmlns:a="http://schemas.openxmlformats.org/drawingml/2006/main">
            <a:off x="457200" y="6267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PILLARS  ENERGY · HARDWARE · MEASUREMENT</a:t>
            </a:r>
          </a:p>
        </p:txBody>
      </p:sp>
      <p:sp>
        <p:nvSpPr>
          <p:cNvPr id="19" name="text-530-658">
            <a:extLst xmlns:a="http://schemas.openxmlformats.org/drawingml/2006/main">
              <a:ext uri="{FF2B5EF4-FFF2-40B4-BE49-F238E27FC236}">
                <a16:creationId xmlns:a16="http://schemas.microsoft.com/office/drawing/2014/main" id="{FAC5A946-602C-45A5-980C-0706F8183387}"/>
              </a:ext>
            </a:extLst>
          </p:cNvPr>
          <p:cNvSpPr>
            <a:spLocks xmlns:a="http://schemas.openxmlformats.org/drawingml/2006/main" noGrp="1"/>
          </p:cNvSpPr>
          <p:nvPr/>
        </p:nvSpPr>
        <p:spPr>
          <a:xfrm xmlns:a="http://schemas.openxmlformats.org/drawingml/2006/main">
            <a:off x="5048250" y="6267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GSF PATTERN  Optimize agent orchestration · Cache static data</a:t>
            </a:r>
          </a:p>
        </p:txBody>
      </p:sp>
    </p:spTree>
    <p:extLst>
      <p:ext uri="{BB962C8B-B14F-4D97-AF65-F5344CB8AC3E}">
        <p14:creationId xmlns:p14="http://schemas.microsoft.com/office/powerpoint/2010/main" val="9963078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48-26">
            <a:extLst xmlns:a="http://schemas.openxmlformats.org/drawingml/2006/main">
              <a:ext uri="{FF2B5EF4-FFF2-40B4-BE49-F238E27FC236}">
                <a16:creationId xmlns:a16="http://schemas.microsoft.com/office/drawing/2014/main" id="{73C1F931-6E4A-402E-9CDE-EDBCAA22B79F}"/>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MIRA · PATH B GREEN RETROFIT</a:t>
            </a:r>
          </a:p>
        </p:txBody>
      </p:sp>
      <p:sp>
        <p:nvSpPr>
          <p:cNvPr id="2" name="text-48-56">
            <a:extLst xmlns:a="http://schemas.openxmlformats.org/drawingml/2006/main">
              <a:ext uri="{FF2B5EF4-FFF2-40B4-BE49-F238E27FC236}">
                <a16:creationId xmlns:a16="http://schemas.microsoft.com/office/drawing/2014/main" id="{14B4431F-9A2A-4505-8055-E9B3A1CA6094}"/>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Use the smallest model that passes MIRA’s quality gate</a:t>
            </a:r>
          </a:p>
        </p:txBody>
      </p:sp>
      <p:cxnSp>
        <p:nvCxnSpPr>
          <p:cNvPr id="22"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5918CA08-4317-4299-A66B-AFB90B1769FC}"/>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07</a:t>
            </a:r>
          </a:p>
        </p:txBody>
      </p:sp>
      <p:sp>
        <p:nvSpPr>
          <p:cNvPr id="5" name="text-48-158">
            <a:extLst xmlns:a="http://schemas.openxmlformats.org/drawingml/2006/main">
              <a:ext uri="{FF2B5EF4-FFF2-40B4-BE49-F238E27FC236}">
                <a16:creationId xmlns:a16="http://schemas.microsoft.com/office/drawing/2014/main" id="{BF9AC761-0146-4805-A1C7-5268930C775B}"/>
              </a:ext>
            </a:extLst>
          </p:cNvPr>
          <p:cNvSpPr>
            <a:spLocks xmlns:a="http://schemas.openxmlformats.org/drawingml/2006/main" noGrp="1"/>
          </p:cNvSpPr>
          <p:nvPr/>
        </p:nvSpPr>
        <p:spPr>
          <a:xfrm xmlns:a="http://schemas.openxmlformats.org/drawingml/2006/main">
            <a:off x="457200" y="1504950"/>
            <a:ext cx="11049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050" b="1" i="0">
                <a:solidFill>
                  <a:srgbClr val="4E9D6E"/>
                </a:solidFill>
              </a:defRPr>
            </a:pPr>
            <a:r>
              <a:rPr sz="7050" b="1" i="0">
                <a:solidFill>
                  <a:srgbClr val="4E9D6E"/>
                </a:solidFill>
              </a:rPr>
              <a:t>02</a:t>
            </a:r>
          </a:p>
        </p:txBody>
      </p:sp>
      <p:sp>
        <p:nvSpPr>
          <p:cNvPr id="6" name="text-48-280">
            <a:extLst xmlns:a="http://schemas.openxmlformats.org/drawingml/2006/main">
              <a:ext uri="{FF2B5EF4-FFF2-40B4-BE49-F238E27FC236}">
                <a16:creationId xmlns:a16="http://schemas.microsoft.com/office/drawing/2014/main" id="{AC3300A8-CD39-4828-875C-38A9D7CD3C90}"/>
              </a:ext>
            </a:extLst>
          </p:cNvPr>
          <p:cNvSpPr>
            <a:spLocks xmlns:a="http://schemas.openxmlformats.org/drawingml/2006/main" noGrp="1"/>
          </p:cNvSpPr>
          <p:nvPr/>
        </p:nvSpPr>
        <p:spPr>
          <a:xfrm xmlns:a="http://schemas.openxmlformats.org/drawingml/2006/main">
            <a:off x="457200" y="26670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01412"/>
                </a:solidFill>
              </a:defRPr>
            </a:pPr>
            <a:r>
              <a:rPr sz="1725" b="1" i="0">
                <a:solidFill>
                  <a:srgbClr val="101412"/>
                </a:solidFill>
              </a:rPr>
              <a:t>Right-size before scaling</a:t>
            </a:r>
          </a:p>
        </p:txBody>
      </p:sp>
      <p:sp>
        <p:nvSpPr>
          <p:cNvPr id="7" name="text-48-410">
            <a:extLst xmlns:a="http://schemas.openxmlformats.org/drawingml/2006/main">
              <a:ext uri="{FF2B5EF4-FFF2-40B4-BE49-F238E27FC236}">
                <a16:creationId xmlns:a16="http://schemas.microsoft.com/office/drawing/2014/main" id="{F4BF7C63-289F-431A-AEAD-B2777307EF6F}"/>
              </a:ext>
            </a:extLst>
          </p:cNvPr>
          <p:cNvSpPr>
            <a:spLocks xmlns:a="http://schemas.openxmlformats.org/drawingml/2006/main" noGrp="1"/>
          </p:cNvSpPr>
          <p:nvPr/>
        </p:nvSpPr>
        <p:spPr>
          <a:xfrm xmlns:a="http://schemas.openxmlformats.org/drawingml/2006/main">
            <a:off x="457200" y="39052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Lower token/API cost while protecting MIRA’s core promise: a distinctive, useful plan.</a:t>
            </a:r>
          </a:p>
        </p:txBody>
      </p:sp>
      <p:cxnSp>
        <p:nvCxnSpPr>
          <p:cNvPr id="27" name="vrule-308-160"/>
          <p:cNvCxnSpPr/>
          <p:nvPr/>
        </p:nvCxnSpPr>
        <p:spPr>
          <a:xfrm xmlns:a="http://schemas.openxmlformats.org/drawingml/2006/main">
            <a:off x="2933700" y="1524000"/>
            <a:ext cx="95" cy="4171950"/>
          </a:xfrm>
          <a:prstGeom xmlns:a="http://schemas.openxmlformats.org/drawingml/2006/main" prst="straightConnector1">
            <a:avLst/>
          </a:prstGeom>
          <a:ln xmlns:a="http://schemas.openxmlformats.org/drawingml/2006/main" w="9525">
            <a:solidFill>
              <a:srgbClr val="B8C0BA"/>
            </a:solidFill>
            <a:prstDash val="solid"/>
          </a:ln>
        </p:spPr>
      </p:cxnSp>
      <p:sp>
        <p:nvSpPr>
          <p:cNvPr id="9" name="text-350-172">
            <a:extLst xmlns:a="http://schemas.openxmlformats.org/drawingml/2006/main">
              <a:ext uri="{FF2B5EF4-FFF2-40B4-BE49-F238E27FC236}">
                <a16:creationId xmlns:a16="http://schemas.microsoft.com/office/drawing/2014/main" id="{8649BF9E-A8D6-40FA-BBAA-BDB681CE4E4A}"/>
              </a:ext>
            </a:extLst>
          </p:cNvPr>
          <p:cNvSpPr>
            <a:spLocks xmlns:a="http://schemas.openxmlformats.org/drawingml/2006/main" noGrp="1"/>
          </p:cNvSpPr>
          <p:nvPr/>
        </p:nvSpPr>
        <p:spPr>
          <a:xfrm xmlns:a="http://schemas.openxmlformats.org/drawingml/2006/main">
            <a:off x="333375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D48449"/>
                </a:solidFill>
              </a:defRPr>
            </a:pPr>
            <a:r>
              <a:rPr sz="975" b="1" i="0">
                <a:solidFill>
                  <a:srgbClr val="D48449"/>
                </a:solidFill>
              </a:rPr>
              <a:t>PROBLEM</a:t>
            </a:r>
          </a:p>
        </p:txBody>
      </p:sp>
      <p:sp>
        <p:nvSpPr>
          <p:cNvPr id="10" name="text-350-212">
            <a:extLst xmlns:a="http://schemas.openxmlformats.org/drawingml/2006/main">
              <a:ext uri="{FF2B5EF4-FFF2-40B4-BE49-F238E27FC236}">
                <a16:creationId xmlns:a16="http://schemas.microsoft.com/office/drawing/2014/main" id="{45CD497A-9EE8-47B8-A098-F6D6006C0692}"/>
              </a:ext>
            </a:extLst>
          </p:cNvPr>
          <p:cNvSpPr>
            <a:spLocks xmlns:a="http://schemas.openxmlformats.org/drawingml/2006/main" noGrp="1"/>
          </p:cNvSpPr>
          <p:nvPr/>
        </p:nvSpPr>
        <p:spPr>
          <a:xfrm xmlns:a="http://schemas.openxmlformats.org/drawingml/2006/main">
            <a:off x="333375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One large model may be doing extraction, validation, routing and creative synthesis—even where rules or a smaller model are enough.</a:t>
            </a:r>
          </a:p>
        </p:txBody>
      </p:sp>
      <p:sp>
        <p:nvSpPr>
          <p:cNvPr id="11" name="text-625-172">
            <a:extLst xmlns:a="http://schemas.openxmlformats.org/drawingml/2006/main">
              <a:ext uri="{FF2B5EF4-FFF2-40B4-BE49-F238E27FC236}">
                <a16:creationId xmlns:a16="http://schemas.microsoft.com/office/drawing/2014/main" id="{5ED64F4D-FB69-4C3A-8696-0C1C505FD5FC}"/>
              </a:ext>
            </a:extLst>
          </p:cNvPr>
          <p:cNvSpPr>
            <a:spLocks xmlns:a="http://schemas.openxmlformats.org/drawingml/2006/main" noGrp="1"/>
          </p:cNvSpPr>
          <p:nvPr/>
        </p:nvSpPr>
        <p:spPr>
          <a:xfrm xmlns:a="http://schemas.openxmlformats.org/drawingml/2006/main">
            <a:off x="5953125"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CHANGE</a:t>
            </a:r>
          </a:p>
        </p:txBody>
      </p:sp>
      <p:sp>
        <p:nvSpPr>
          <p:cNvPr id="12" name="text-625-212">
            <a:extLst xmlns:a="http://schemas.openxmlformats.org/drawingml/2006/main">
              <a:ext uri="{FF2B5EF4-FFF2-40B4-BE49-F238E27FC236}">
                <a16:creationId xmlns:a16="http://schemas.microsoft.com/office/drawing/2014/main" id="{F06BD8C6-D7C4-4214-85BA-149FFA8490B9}"/>
              </a:ext>
            </a:extLst>
          </p:cNvPr>
          <p:cNvSpPr>
            <a:spLocks xmlns:a="http://schemas.openxmlformats.org/drawingml/2006/main" noGrp="1"/>
          </p:cNvSpPr>
          <p:nvPr/>
        </p:nvSpPr>
        <p:spPr>
          <a:xfrm xmlns:a="http://schemas.openxmlformats.org/drawingml/2006/main">
            <a:off x="5953125"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Use deterministic logic for validation, a smaller model for structure and routing, and the stronger model only for final creative synthesis.</a:t>
            </a:r>
          </a:p>
        </p:txBody>
      </p:sp>
      <p:sp>
        <p:nvSpPr>
          <p:cNvPr id="13" name="text-900-172">
            <a:extLst xmlns:a="http://schemas.openxmlformats.org/drawingml/2006/main">
              <a:ext uri="{FF2B5EF4-FFF2-40B4-BE49-F238E27FC236}">
                <a16:creationId xmlns:a16="http://schemas.microsoft.com/office/drawing/2014/main" id="{F6670510-1B1D-49B9-A2B8-0FF0E8D1C2EE}"/>
              </a:ext>
            </a:extLst>
          </p:cNvPr>
          <p:cNvSpPr>
            <a:spLocks xmlns:a="http://schemas.openxmlformats.org/drawingml/2006/main" noGrp="1"/>
          </p:cNvSpPr>
          <p:nvPr/>
        </p:nvSpPr>
        <p:spPr>
          <a:xfrm xmlns:a="http://schemas.openxmlformats.org/drawingml/2006/main">
            <a:off x="857250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PROOF / GUARDRAIL</a:t>
            </a:r>
          </a:p>
        </p:txBody>
      </p:sp>
      <p:sp>
        <p:nvSpPr>
          <p:cNvPr id="14" name="text-900-212">
            <a:extLst xmlns:a="http://schemas.openxmlformats.org/drawingml/2006/main">
              <a:ext uri="{FF2B5EF4-FFF2-40B4-BE49-F238E27FC236}">
                <a16:creationId xmlns:a16="http://schemas.microsoft.com/office/drawing/2014/main" id="{32F716C4-A120-4FA9-96AD-523338D2D8BE}"/>
              </a:ext>
            </a:extLst>
          </p:cNvPr>
          <p:cNvSpPr>
            <a:spLocks xmlns:a="http://schemas.openxmlformats.org/drawingml/2006/main" noGrp="1"/>
          </p:cNvSpPr>
          <p:nvPr/>
        </p:nvSpPr>
        <p:spPr>
          <a:xfrm xmlns:a="http://schemas.openxmlformats.org/drawingml/2006/main">
            <a:off x="857250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Run a blinded sample evaluation on usefulness, specificity and brand distinctiveness. Keep latency and escalation rate as guardrails.</a:t>
            </a:r>
          </a:p>
        </p:txBody>
      </p:sp>
      <p:sp>
        <p:nvSpPr>
          <p:cNvPr id="15" name="impact-strip">
            <a:extLst xmlns:a="http://schemas.openxmlformats.org/drawingml/2006/main">
              <a:ext uri="{FF2B5EF4-FFF2-40B4-BE49-F238E27FC236}">
                <a16:creationId xmlns:a16="http://schemas.microsoft.com/office/drawing/2014/main" id="{CF7E6847-0132-478C-90C0-D4AFA1117F75}"/>
              </a:ext>
            </a:extLst>
          </p:cNvPr>
          <p:cNvSpPr>
            <a:spLocks xmlns:a="http://schemas.openxmlformats.org/drawingml/2006/main" noGrp="1"/>
          </p:cNvSpPr>
          <p:nvPr/>
        </p:nvSpPr>
        <p:spPr>
          <a:xfrm xmlns:a="http://schemas.openxmlformats.org/drawingml/2006/main">
            <a:off x="3333750" y="5286375"/>
            <a:ext cx="7381875" cy="552450"/>
          </a:xfrm>
          <a:prstGeom xmlns:a="http://schemas.openxmlformats.org/drawingml/2006/main" prst="rect">
            <a:avLst/>
          </a:prstGeom>
          <a:solidFill xmlns:a="http://schemas.openxmlformats.org/drawingml/2006/main">
            <a:srgbClr val="DDF0E4"/>
          </a:solidFill>
          <a:ln xmlns:a="http://schemas.openxmlformats.org/drawingml/2006/main" w="0">
            <a:solidFill>
              <a:srgbClr val="DDF0E4"/>
            </a:solidFill>
            <a:prstDash val="solid"/>
          </a:ln>
        </p:spPr>
      </p:sp>
      <p:sp>
        <p:nvSpPr>
          <p:cNvPr id="16" name="text-372-569">
            <a:extLst xmlns:a="http://schemas.openxmlformats.org/drawingml/2006/main">
              <a:ext uri="{FF2B5EF4-FFF2-40B4-BE49-F238E27FC236}">
                <a16:creationId xmlns:a16="http://schemas.microsoft.com/office/drawing/2014/main" id="{4E448773-6092-47B5-B925-B4FC1DAD3FD4}"/>
              </a:ext>
            </a:extLst>
          </p:cNvPr>
          <p:cNvSpPr>
            <a:spLocks xmlns:a="http://schemas.openxmlformats.org/drawingml/2006/main" noGrp="1"/>
          </p:cNvSpPr>
          <p:nvPr/>
        </p:nvSpPr>
        <p:spPr>
          <a:xfrm xmlns:a="http://schemas.openxmlformats.org/drawingml/2006/main">
            <a:off x="3543300" y="5419725"/>
            <a:ext cx="695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7747"/>
          </a:bodyPr>
          <a:lstStyle xmlns:a="http://schemas.openxmlformats.org/drawingml/2006/main"/>
          <a:p xmlns:a="http://schemas.openxmlformats.org/drawingml/2006/main">
            <a:pPr algn="l">
              <a:defRPr sz="1350" b="1" i="0">
                <a:solidFill>
                  <a:srgbClr val="173B28"/>
                </a:solidFill>
              </a:defRPr>
            </a:pPr>
            <a:r>
              <a:rPr sz="1350" b="1" i="0">
                <a:solidFill>
                  <a:srgbClr val="173B28"/>
                </a:solidFill>
              </a:rPr>
              <a:t>Ship only if quality is non-inferior and calls/tokens per R fall against the same baseline.</a:t>
            </a:r>
          </a:p>
        </p:txBody>
      </p:sp>
      <p:cxnSp>
        <p:nvCxnSpPr>
          <p:cNvPr id="36" name="rule-48-645"/>
          <p:cNvCxnSpPr/>
          <p:nvPr/>
        </p:nvCxnSpPr>
        <p:spPr>
          <a:xfrm xmlns:a="http://schemas.openxmlformats.org/drawingml/2006/main">
            <a:off x="457200" y="6143625"/>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18" name="text-48-658">
            <a:extLst xmlns:a="http://schemas.openxmlformats.org/drawingml/2006/main">
              <a:ext uri="{FF2B5EF4-FFF2-40B4-BE49-F238E27FC236}">
                <a16:creationId xmlns:a16="http://schemas.microsoft.com/office/drawing/2014/main" id="{CA4631C6-7A77-41D1-8ABC-CE9DEF46CDD4}"/>
              </a:ext>
            </a:extLst>
          </p:cNvPr>
          <p:cNvSpPr>
            <a:spLocks xmlns:a="http://schemas.openxmlformats.org/drawingml/2006/main" noGrp="1"/>
          </p:cNvSpPr>
          <p:nvPr/>
        </p:nvSpPr>
        <p:spPr>
          <a:xfrm xmlns:a="http://schemas.openxmlformats.org/drawingml/2006/main">
            <a:off x="457200" y="6267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PILLARS  ENERGY · HARDWARE · MEASUREMENT</a:t>
            </a:r>
          </a:p>
        </p:txBody>
      </p:sp>
      <p:sp>
        <p:nvSpPr>
          <p:cNvPr id="19" name="text-530-658">
            <a:extLst xmlns:a="http://schemas.openxmlformats.org/drawingml/2006/main">
              <a:ext uri="{FF2B5EF4-FFF2-40B4-BE49-F238E27FC236}">
                <a16:creationId xmlns:a16="http://schemas.microsoft.com/office/drawing/2014/main" id="{E0B0CC3B-986A-4CFF-83AB-C3D0181ACD67}"/>
              </a:ext>
            </a:extLst>
          </p:cNvPr>
          <p:cNvSpPr>
            <a:spLocks xmlns:a="http://schemas.openxmlformats.org/drawingml/2006/main" noGrp="1"/>
          </p:cNvSpPr>
          <p:nvPr/>
        </p:nvSpPr>
        <p:spPr>
          <a:xfrm xmlns:a="http://schemas.openxmlformats.org/drawingml/2006/main">
            <a:off x="5048250" y="6267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GSF PATTERN  Use right-sized and energy-efficient AI models</a:t>
            </a:r>
          </a:p>
        </p:txBody>
      </p:sp>
    </p:spTree>
    <p:extLst>
      <p:ext uri="{BB962C8B-B14F-4D97-AF65-F5344CB8AC3E}">
        <p14:creationId xmlns:p14="http://schemas.microsoft.com/office/powerpoint/2010/main" val="118041235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48-26">
            <a:extLst xmlns:a="http://schemas.openxmlformats.org/drawingml/2006/main">
              <a:ext uri="{FF2B5EF4-FFF2-40B4-BE49-F238E27FC236}">
                <a16:creationId xmlns:a16="http://schemas.microsoft.com/office/drawing/2014/main" id="{E1FF681E-EB25-4878-93CB-FCB33A4F6357}"/>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MIRA · PATH B GREEN RETROFIT</a:t>
            </a:r>
          </a:p>
        </p:txBody>
      </p:sp>
      <p:sp>
        <p:nvSpPr>
          <p:cNvPr id="2" name="text-48-56">
            <a:extLst xmlns:a="http://schemas.openxmlformats.org/drawingml/2006/main">
              <a:ext uri="{FF2B5EF4-FFF2-40B4-BE49-F238E27FC236}">
                <a16:creationId xmlns:a16="http://schemas.microsoft.com/office/drawing/2014/main" id="{EE55129A-8DBB-456C-A852-663FEC753CBA}"/>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Generate and retain only the media the user will actually use</a:t>
            </a:r>
          </a:p>
        </p:txBody>
      </p:sp>
      <p:cxnSp>
        <p:nvCxnSpPr>
          <p:cNvPr id="22"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8C537F92-2C3D-4044-A179-4D216D35181C}"/>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08</a:t>
            </a:r>
          </a:p>
        </p:txBody>
      </p:sp>
      <p:sp>
        <p:nvSpPr>
          <p:cNvPr id="5" name="text-48-158">
            <a:extLst xmlns:a="http://schemas.openxmlformats.org/drawingml/2006/main">
              <a:ext uri="{FF2B5EF4-FFF2-40B4-BE49-F238E27FC236}">
                <a16:creationId xmlns:a16="http://schemas.microsoft.com/office/drawing/2014/main" id="{AF93FC93-E2AC-497E-8501-058EE261AE1B}"/>
              </a:ext>
            </a:extLst>
          </p:cNvPr>
          <p:cNvSpPr>
            <a:spLocks xmlns:a="http://schemas.openxmlformats.org/drawingml/2006/main" noGrp="1"/>
          </p:cNvSpPr>
          <p:nvPr/>
        </p:nvSpPr>
        <p:spPr>
          <a:xfrm xmlns:a="http://schemas.openxmlformats.org/drawingml/2006/main">
            <a:off x="457200" y="1504950"/>
            <a:ext cx="11049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050" b="1" i="0">
                <a:solidFill>
                  <a:srgbClr val="4E9D6E"/>
                </a:solidFill>
              </a:defRPr>
            </a:pPr>
            <a:r>
              <a:rPr sz="7050" b="1" i="0">
                <a:solidFill>
                  <a:srgbClr val="4E9D6E"/>
                </a:solidFill>
              </a:rPr>
              <a:t>03</a:t>
            </a:r>
          </a:p>
        </p:txBody>
      </p:sp>
      <p:sp>
        <p:nvSpPr>
          <p:cNvPr id="6" name="text-48-280">
            <a:extLst xmlns:a="http://schemas.openxmlformats.org/drawingml/2006/main">
              <a:ext uri="{FF2B5EF4-FFF2-40B4-BE49-F238E27FC236}">
                <a16:creationId xmlns:a16="http://schemas.microsoft.com/office/drawing/2014/main" id="{48693CDB-B002-4A7F-8C46-C85EF7298D38}"/>
              </a:ext>
            </a:extLst>
          </p:cNvPr>
          <p:cNvSpPr>
            <a:spLocks xmlns:a="http://schemas.openxmlformats.org/drawingml/2006/main" noGrp="1"/>
          </p:cNvSpPr>
          <p:nvPr/>
        </p:nvSpPr>
        <p:spPr>
          <a:xfrm xmlns:a="http://schemas.openxmlformats.org/drawingml/2006/main">
            <a:off x="457200" y="26670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01412"/>
                </a:solidFill>
              </a:defRPr>
            </a:pPr>
            <a:r>
              <a:rPr sz="1725" b="1" i="0">
                <a:solidFill>
                  <a:srgbClr val="101412"/>
                </a:solidFill>
              </a:rPr>
              <a:t>Treat every variant as inventory</a:t>
            </a:r>
          </a:p>
        </p:txBody>
      </p:sp>
      <p:sp>
        <p:nvSpPr>
          <p:cNvPr id="7" name="text-48-410">
            <a:extLst xmlns:a="http://schemas.openxmlformats.org/drawingml/2006/main">
              <a:ext uri="{FF2B5EF4-FFF2-40B4-BE49-F238E27FC236}">
                <a16:creationId xmlns:a16="http://schemas.microsoft.com/office/drawing/2014/main" id="{472A9B1F-D2D5-45BA-9CB6-D67B295F4F91}"/>
              </a:ext>
            </a:extLst>
          </p:cNvPr>
          <p:cNvSpPr>
            <a:spLocks xmlns:a="http://schemas.openxmlformats.org/drawingml/2006/main" noGrp="1"/>
          </p:cNvSpPr>
          <p:nvPr/>
        </p:nvSpPr>
        <p:spPr>
          <a:xfrm xmlns:a="http://schemas.openxmlformats.org/drawingml/2006/main">
            <a:off x="457200" y="39052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Smaller transfers, faster delivery and less storage growth without flattening creative choice.</a:t>
            </a:r>
          </a:p>
        </p:txBody>
      </p:sp>
      <p:cxnSp>
        <p:nvCxnSpPr>
          <p:cNvPr id="27" name="vrule-308-160"/>
          <p:cNvCxnSpPr/>
          <p:nvPr/>
        </p:nvCxnSpPr>
        <p:spPr>
          <a:xfrm xmlns:a="http://schemas.openxmlformats.org/drawingml/2006/main">
            <a:off x="2933700" y="1524000"/>
            <a:ext cx="95" cy="4171950"/>
          </a:xfrm>
          <a:prstGeom xmlns:a="http://schemas.openxmlformats.org/drawingml/2006/main" prst="straightConnector1">
            <a:avLst/>
          </a:prstGeom>
          <a:ln xmlns:a="http://schemas.openxmlformats.org/drawingml/2006/main" w="9525">
            <a:solidFill>
              <a:srgbClr val="B8C0BA"/>
            </a:solidFill>
            <a:prstDash val="solid"/>
          </a:ln>
        </p:spPr>
      </p:cxnSp>
      <p:sp>
        <p:nvSpPr>
          <p:cNvPr id="9" name="text-350-172">
            <a:extLst xmlns:a="http://schemas.openxmlformats.org/drawingml/2006/main">
              <a:ext uri="{FF2B5EF4-FFF2-40B4-BE49-F238E27FC236}">
                <a16:creationId xmlns:a16="http://schemas.microsoft.com/office/drawing/2014/main" id="{6F46D926-47B3-41A8-94B5-56CBF8169B7A}"/>
              </a:ext>
            </a:extLst>
          </p:cNvPr>
          <p:cNvSpPr>
            <a:spLocks xmlns:a="http://schemas.openxmlformats.org/drawingml/2006/main" noGrp="1"/>
          </p:cNvSpPr>
          <p:nvPr/>
        </p:nvSpPr>
        <p:spPr>
          <a:xfrm xmlns:a="http://schemas.openxmlformats.org/drawingml/2006/main">
            <a:off x="333375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D48449"/>
                </a:solidFill>
              </a:defRPr>
            </a:pPr>
            <a:r>
              <a:rPr sz="975" b="1" i="0">
                <a:solidFill>
                  <a:srgbClr val="D48449"/>
                </a:solidFill>
              </a:rPr>
              <a:t>PROBLEM</a:t>
            </a:r>
          </a:p>
        </p:txBody>
      </p:sp>
      <p:sp>
        <p:nvSpPr>
          <p:cNvPr id="10" name="text-350-212">
            <a:extLst xmlns:a="http://schemas.openxmlformats.org/drawingml/2006/main">
              <a:ext uri="{FF2B5EF4-FFF2-40B4-BE49-F238E27FC236}">
                <a16:creationId xmlns:a16="http://schemas.microsoft.com/office/drawing/2014/main" id="{25535A41-0D3D-4C3C-A1D9-249BC488997F}"/>
              </a:ext>
            </a:extLst>
          </p:cNvPr>
          <p:cNvSpPr>
            <a:spLocks xmlns:a="http://schemas.openxmlformats.org/drawingml/2006/main" noGrp="1"/>
          </p:cNvSpPr>
          <p:nvPr/>
        </p:nvSpPr>
        <p:spPr>
          <a:xfrm xmlns:a="http://schemas.openxmlformats.org/drawingml/2006/main">
            <a:off x="333375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High-resolution drafts, unused variants and long-lived intermediate files can accumulate across the workflow.</a:t>
            </a:r>
          </a:p>
        </p:txBody>
      </p:sp>
      <p:sp>
        <p:nvSpPr>
          <p:cNvPr id="11" name="text-625-172">
            <a:extLst xmlns:a="http://schemas.openxmlformats.org/drawingml/2006/main">
              <a:ext uri="{FF2B5EF4-FFF2-40B4-BE49-F238E27FC236}">
                <a16:creationId xmlns:a16="http://schemas.microsoft.com/office/drawing/2014/main" id="{5E1969F2-2E3F-41BF-A1C3-2062A7FF11D3}"/>
              </a:ext>
            </a:extLst>
          </p:cNvPr>
          <p:cNvSpPr>
            <a:spLocks xmlns:a="http://schemas.openxmlformats.org/drawingml/2006/main" noGrp="1"/>
          </p:cNvSpPr>
          <p:nvPr/>
        </p:nvSpPr>
        <p:spPr>
          <a:xfrm xmlns:a="http://schemas.openxmlformats.org/drawingml/2006/main">
            <a:off x="5953125"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CHANGE</a:t>
            </a:r>
          </a:p>
        </p:txBody>
      </p:sp>
      <p:sp>
        <p:nvSpPr>
          <p:cNvPr id="12" name="text-625-212">
            <a:extLst xmlns:a="http://schemas.openxmlformats.org/drawingml/2006/main">
              <a:ext uri="{FF2B5EF4-FFF2-40B4-BE49-F238E27FC236}">
                <a16:creationId xmlns:a16="http://schemas.microsoft.com/office/drawing/2014/main" id="{2DA68078-BEEF-45EB-AA7E-6AB71987AFBB}"/>
              </a:ext>
            </a:extLst>
          </p:cNvPr>
          <p:cNvSpPr>
            <a:spLocks xmlns:a="http://schemas.openxmlformats.org/drawingml/2006/main" noGrp="1"/>
          </p:cNvSpPr>
          <p:nvPr/>
        </p:nvSpPr>
        <p:spPr>
          <a:xfrm xmlns:a="http://schemas.openxmlformats.org/drawingml/2006/main">
            <a:off x="5953125"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Create low-resolution drafts first; upscale only selected images. Serve modern formats and expire rejected/intermediate media automatically.</a:t>
            </a:r>
          </a:p>
        </p:txBody>
      </p:sp>
      <p:sp>
        <p:nvSpPr>
          <p:cNvPr id="13" name="text-900-172">
            <a:extLst xmlns:a="http://schemas.openxmlformats.org/drawingml/2006/main">
              <a:ext uri="{FF2B5EF4-FFF2-40B4-BE49-F238E27FC236}">
                <a16:creationId xmlns:a16="http://schemas.microsoft.com/office/drawing/2014/main" id="{006E5015-DC0B-454D-98A9-DC18858D7F27}"/>
              </a:ext>
            </a:extLst>
          </p:cNvPr>
          <p:cNvSpPr>
            <a:spLocks xmlns:a="http://schemas.openxmlformats.org/drawingml/2006/main" noGrp="1"/>
          </p:cNvSpPr>
          <p:nvPr/>
        </p:nvSpPr>
        <p:spPr>
          <a:xfrm xmlns:a="http://schemas.openxmlformats.org/drawingml/2006/main">
            <a:off x="857250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PROOF / GUARDRAIL</a:t>
            </a:r>
          </a:p>
        </p:txBody>
      </p:sp>
      <p:sp>
        <p:nvSpPr>
          <p:cNvPr id="14" name="text-900-212">
            <a:extLst xmlns:a="http://schemas.openxmlformats.org/drawingml/2006/main">
              <a:ext uri="{FF2B5EF4-FFF2-40B4-BE49-F238E27FC236}">
                <a16:creationId xmlns:a16="http://schemas.microsoft.com/office/drawing/2014/main" id="{32DCFE5F-2887-45D1-AD07-F2775BABAB4D}"/>
              </a:ext>
            </a:extLst>
          </p:cNvPr>
          <p:cNvSpPr>
            <a:spLocks xmlns:a="http://schemas.openxmlformats.org/drawingml/2006/main" noGrp="1"/>
          </p:cNvSpPr>
          <p:nvPr/>
        </p:nvSpPr>
        <p:spPr>
          <a:xfrm xmlns:a="http://schemas.openxmlformats.org/drawingml/2006/main">
            <a:off x="857250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Track images generated vs selected, MB transferred per R, retained bytes after 14/30 days and any visible quality complaints.</a:t>
            </a:r>
          </a:p>
        </p:txBody>
      </p:sp>
      <p:sp>
        <p:nvSpPr>
          <p:cNvPr id="15" name="impact-strip">
            <a:extLst xmlns:a="http://schemas.openxmlformats.org/drawingml/2006/main">
              <a:ext uri="{FF2B5EF4-FFF2-40B4-BE49-F238E27FC236}">
                <a16:creationId xmlns:a16="http://schemas.microsoft.com/office/drawing/2014/main" id="{4124989A-EC23-41F7-8478-7E75D33C577A}"/>
              </a:ext>
            </a:extLst>
          </p:cNvPr>
          <p:cNvSpPr>
            <a:spLocks xmlns:a="http://schemas.openxmlformats.org/drawingml/2006/main" noGrp="1"/>
          </p:cNvSpPr>
          <p:nvPr/>
        </p:nvSpPr>
        <p:spPr>
          <a:xfrm xmlns:a="http://schemas.openxmlformats.org/drawingml/2006/main">
            <a:off x="3333750" y="5286375"/>
            <a:ext cx="7381875" cy="552450"/>
          </a:xfrm>
          <a:prstGeom xmlns:a="http://schemas.openxmlformats.org/drawingml/2006/main" prst="rect">
            <a:avLst/>
          </a:prstGeom>
          <a:solidFill xmlns:a="http://schemas.openxmlformats.org/drawingml/2006/main">
            <a:srgbClr val="DDF0E4"/>
          </a:solidFill>
          <a:ln xmlns:a="http://schemas.openxmlformats.org/drawingml/2006/main" w="0">
            <a:solidFill>
              <a:srgbClr val="DDF0E4"/>
            </a:solidFill>
            <a:prstDash val="solid"/>
          </a:ln>
        </p:spPr>
      </p:sp>
      <p:sp>
        <p:nvSpPr>
          <p:cNvPr id="16" name="text-372-569">
            <a:extLst xmlns:a="http://schemas.openxmlformats.org/drawingml/2006/main">
              <a:ext uri="{FF2B5EF4-FFF2-40B4-BE49-F238E27FC236}">
                <a16:creationId xmlns:a16="http://schemas.microsoft.com/office/drawing/2014/main" id="{DECB8E96-9176-467E-9849-D4C931E990CD}"/>
              </a:ext>
            </a:extLst>
          </p:cNvPr>
          <p:cNvSpPr>
            <a:spLocks xmlns:a="http://schemas.openxmlformats.org/drawingml/2006/main" noGrp="1"/>
          </p:cNvSpPr>
          <p:nvPr/>
        </p:nvSpPr>
        <p:spPr>
          <a:xfrm xmlns:a="http://schemas.openxmlformats.org/drawingml/2006/main">
            <a:off x="3543300" y="5419725"/>
            <a:ext cx="695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9603"/>
          </a:bodyPr>
          <a:lstStyle xmlns:a="http://schemas.openxmlformats.org/drawingml/2006/main"/>
          <a:p xmlns:a="http://schemas.openxmlformats.org/drawingml/2006/main">
            <a:pPr algn="l">
              <a:defRPr sz="1350" b="1" i="0">
                <a:solidFill>
                  <a:srgbClr val="173B28"/>
                </a:solidFill>
              </a:defRPr>
            </a:pPr>
            <a:r>
              <a:rPr sz="1350" b="1" i="0">
                <a:solidFill>
                  <a:srgbClr val="173B28"/>
                </a:solidFill>
              </a:rPr>
              <a:t>Expected direction: lower transfer/storage per R; compression CPU is a trade-off to test, not assume away.</a:t>
            </a:r>
          </a:p>
        </p:txBody>
      </p:sp>
      <p:cxnSp>
        <p:nvCxnSpPr>
          <p:cNvPr id="36" name="rule-48-645"/>
          <p:cNvCxnSpPr/>
          <p:nvPr/>
        </p:nvCxnSpPr>
        <p:spPr>
          <a:xfrm xmlns:a="http://schemas.openxmlformats.org/drawingml/2006/main">
            <a:off x="457200" y="6143625"/>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18" name="text-48-658">
            <a:extLst xmlns:a="http://schemas.openxmlformats.org/drawingml/2006/main">
              <a:ext uri="{FF2B5EF4-FFF2-40B4-BE49-F238E27FC236}">
                <a16:creationId xmlns:a16="http://schemas.microsoft.com/office/drawing/2014/main" id="{7AA5F4FA-9FAD-4EEA-9E0F-925ADA9A1C25}"/>
              </a:ext>
            </a:extLst>
          </p:cNvPr>
          <p:cNvSpPr>
            <a:spLocks xmlns:a="http://schemas.openxmlformats.org/drawingml/2006/main" noGrp="1"/>
          </p:cNvSpPr>
          <p:nvPr/>
        </p:nvSpPr>
        <p:spPr>
          <a:xfrm xmlns:a="http://schemas.openxmlformats.org/drawingml/2006/main">
            <a:off x="457200" y="6267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PILLARS  ENERGY · HARDWARE · MEASUREMENT</a:t>
            </a:r>
          </a:p>
        </p:txBody>
      </p:sp>
      <p:sp>
        <p:nvSpPr>
          <p:cNvPr id="19" name="text-530-658">
            <a:extLst xmlns:a="http://schemas.openxmlformats.org/drawingml/2006/main">
              <a:ext uri="{FF2B5EF4-FFF2-40B4-BE49-F238E27FC236}">
                <a16:creationId xmlns:a16="http://schemas.microsoft.com/office/drawing/2014/main" id="{2410C71E-73DE-4404-A786-D3072531B089}"/>
              </a:ext>
            </a:extLst>
          </p:cNvPr>
          <p:cNvSpPr>
            <a:spLocks xmlns:a="http://schemas.openxmlformats.org/drawingml/2006/main" noGrp="1"/>
          </p:cNvSpPr>
          <p:nvPr/>
        </p:nvSpPr>
        <p:spPr>
          <a:xfrm xmlns:a="http://schemas.openxmlformats.org/drawingml/2006/main">
            <a:off x="5048250" y="6267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GSF PATTERN  Optimize image size · Modern formats · Retention policies</a:t>
            </a:r>
          </a:p>
        </p:txBody>
      </p:sp>
    </p:spTree>
    <p:extLst>
      <p:ext uri="{BB962C8B-B14F-4D97-AF65-F5344CB8AC3E}">
        <p14:creationId xmlns:p14="http://schemas.microsoft.com/office/powerpoint/2010/main" val="72910250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48-26">
            <a:extLst xmlns:a="http://schemas.openxmlformats.org/drawingml/2006/main">
              <a:ext uri="{FF2B5EF4-FFF2-40B4-BE49-F238E27FC236}">
                <a16:creationId xmlns:a16="http://schemas.microsoft.com/office/drawing/2014/main" id="{0E290135-4051-45F9-9325-EBAAB5F50DD6}"/>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MIRA · PATH B GREEN RETROFIT</a:t>
            </a:r>
          </a:p>
        </p:txBody>
      </p:sp>
      <p:sp>
        <p:nvSpPr>
          <p:cNvPr id="2" name="text-48-56">
            <a:extLst xmlns:a="http://schemas.openxmlformats.org/drawingml/2006/main">
              <a:ext uri="{FF2B5EF4-FFF2-40B4-BE49-F238E27FC236}">
                <a16:creationId xmlns:a16="http://schemas.microsoft.com/office/drawing/2014/main" id="{AA9F18F6-8CA7-40EC-ACA3-65C869C53004}"/>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Match infrastructure and timing to real demand</a:t>
            </a:r>
          </a:p>
        </p:txBody>
      </p:sp>
      <p:cxnSp>
        <p:nvCxnSpPr>
          <p:cNvPr id="22"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D08BC9EA-00D2-4108-9B09-5BE386CBACEB}"/>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09</a:t>
            </a:r>
          </a:p>
        </p:txBody>
      </p:sp>
      <p:sp>
        <p:nvSpPr>
          <p:cNvPr id="5" name="text-48-158">
            <a:extLst xmlns:a="http://schemas.openxmlformats.org/drawingml/2006/main">
              <a:ext uri="{FF2B5EF4-FFF2-40B4-BE49-F238E27FC236}">
                <a16:creationId xmlns:a16="http://schemas.microsoft.com/office/drawing/2014/main" id="{64CA5630-7897-4C1C-99A2-39D6C2601D5A}"/>
              </a:ext>
            </a:extLst>
          </p:cNvPr>
          <p:cNvSpPr>
            <a:spLocks xmlns:a="http://schemas.openxmlformats.org/drawingml/2006/main" noGrp="1"/>
          </p:cNvSpPr>
          <p:nvPr/>
        </p:nvSpPr>
        <p:spPr>
          <a:xfrm xmlns:a="http://schemas.openxmlformats.org/drawingml/2006/main">
            <a:off x="457200" y="1504950"/>
            <a:ext cx="11049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7050" b="1" i="0">
                <a:solidFill>
                  <a:srgbClr val="4E9D6E"/>
                </a:solidFill>
              </a:defRPr>
            </a:pPr>
            <a:r>
              <a:rPr sz="7050" b="1" i="0">
                <a:solidFill>
                  <a:srgbClr val="4E9D6E"/>
                </a:solidFill>
              </a:rPr>
              <a:t>04</a:t>
            </a:r>
          </a:p>
        </p:txBody>
      </p:sp>
      <p:sp>
        <p:nvSpPr>
          <p:cNvPr id="6" name="text-48-280">
            <a:extLst xmlns:a="http://schemas.openxmlformats.org/drawingml/2006/main">
              <a:ext uri="{FF2B5EF4-FFF2-40B4-BE49-F238E27FC236}">
                <a16:creationId xmlns:a16="http://schemas.microsoft.com/office/drawing/2014/main" id="{4690BDAB-C56E-4DD5-8ACC-2A82737FF18F}"/>
              </a:ext>
            </a:extLst>
          </p:cNvPr>
          <p:cNvSpPr>
            <a:spLocks xmlns:a="http://schemas.openxmlformats.org/drawingml/2006/main" noGrp="1"/>
          </p:cNvSpPr>
          <p:nvPr/>
        </p:nvSpPr>
        <p:spPr>
          <a:xfrm xmlns:a="http://schemas.openxmlformats.org/drawingml/2006/main">
            <a:off x="457200" y="266700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01412"/>
                </a:solidFill>
              </a:defRPr>
            </a:pPr>
            <a:r>
              <a:rPr sz="1725" b="1" i="0">
                <a:solidFill>
                  <a:srgbClr val="101412"/>
                </a:solidFill>
              </a:rPr>
              <a:t>Stop paying for idle capacity</a:t>
            </a:r>
          </a:p>
        </p:txBody>
      </p:sp>
      <p:sp>
        <p:nvSpPr>
          <p:cNvPr id="7" name="text-48-410">
            <a:extLst xmlns:a="http://schemas.openxmlformats.org/drawingml/2006/main">
              <a:ext uri="{FF2B5EF4-FFF2-40B4-BE49-F238E27FC236}">
                <a16:creationId xmlns:a16="http://schemas.microsoft.com/office/drawing/2014/main" id="{8DCD10D3-C94E-481F-AAA3-B2023BBA9308}"/>
              </a:ext>
            </a:extLst>
          </p:cNvPr>
          <p:cNvSpPr>
            <a:spLocks xmlns:a="http://schemas.openxmlformats.org/drawingml/2006/main" noGrp="1"/>
          </p:cNvSpPr>
          <p:nvPr/>
        </p:nvSpPr>
        <p:spPr>
          <a:xfrm xmlns:a="http://schemas.openxmlformats.org/drawingml/2006/main">
            <a:off x="457200" y="3905250"/>
            <a:ext cx="219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i="0">
                <a:solidFill>
                  <a:srgbClr val="53605A"/>
                </a:solidFill>
              </a:defRPr>
            </a:pPr>
            <a:r>
              <a:rPr sz="1350" b="0" i="0">
                <a:solidFill>
                  <a:srgbClr val="53605A"/>
                </a:solidFill>
              </a:rPr>
              <a:t>Lower baseline cost and energy while respecting latency, GDPR and service availability.</a:t>
            </a:r>
          </a:p>
        </p:txBody>
      </p:sp>
      <p:cxnSp>
        <p:nvCxnSpPr>
          <p:cNvPr id="27" name="vrule-308-160"/>
          <p:cNvCxnSpPr/>
          <p:nvPr/>
        </p:nvCxnSpPr>
        <p:spPr>
          <a:xfrm xmlns:a="http://schemas.openxmlformats.org/drawingml/2006/main">
            <a:off x="2933700" y="1524000"/>
            <a:ext cx="95" cy="4171950"/>
          </a:xfrm>
          <a:prstGeom xmlns:a="http://schemas.openxmlformats.org/drawingml/2006/main" prst="straightConnector1">
            <a:avLst/>
          </a:prstGeom>
          <a:ln xmlns:a="http://schemas.openxmlformats.org/drawingml/2006/main" w="9525">
            <a:solidFill>
              <a:srgbClr val="B8C0BA"/>
            </a:solidFill>
            <a:prstDash val="solid"/>
          </a:ln>
        </p:spPr>
      </p:cxnSp>
      <p:sp>
        <p:nvSpPr>
          <p:cNvPr id="9" name="text-350-172">
            <a:extLst xmlns:a="http://schemas.openxmlformats.org/drawingml/2006/main">
              <a:ext uri="{FF2B5EF4-FFF2-40B4-BE49-F238E27FC236}">
                <a16:creationId xmlns:a16="http://schemas.microsoft.com/office/drawing/2014/main" id="{6CAA508F-6A60-4FA8-A388-AD03871AC72D}"/>
              </a:ext>
            </a:extLst>
          </p:cNvPr>
          <p:cNvSpPr>
            <a:spLocks xmlns:a="http://schemas.openxmlformats.org/drawingml/2006/main" noGrp="1"/>
          </p:cNvSpPr>
          <p:nvPr/>
        </p:nvSpPr>
        <p:spPr>
          <a:xfrm xmlns:a="http://schemas.openxmlformats.org/drawingml/2006/main">
            <a:off x="333375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D48449"/>
                </a:solidFill>
              </a:defRPr>
            </a:pPr>
            <a:r>
              <a:rPr sz="975" b="1" i="0">
                <a:solidFill>
                  <a:srgbClr val="D48449"/>
                </a:solidFill>
              </a:rPr>
              <a:t>PROBLEM</a:t>
            </a:r>
          </a:p>
        </p:txBody>
      </p:sp>
      <p:sp>
        <p:nvSpPr>
          <p:cNvPr id="10" name="text-350-212">
            <a:extLst xmlns:a="http://schemas.openxmlformats.org/drawingml/2006/main">
              <a:ext uri="{FF2B5EF4-FFF2-40B4-BE49-F238E27FC236}">
                <a16:creationId xmlns:a16="http://schemas.microsoft.com/office/drawing/2014/main" id="{BF866AFF-76B4-4368-B084-E445A63C231F}"/>
              </a:ext>
            </a:extLst>
          </p:cNvPr>
          <p:cNvSpPr>
            <a:spLocks xmlns:a="http://schemas.openxmlformats.org/drawingml/2006/main" noGrp="1"/>
          </p:cNvSpPr>
          <p:nvPr/>
        </p:nvSpPr>
        <p:spPr>
          <a:xfrm xmlns:a="http://schemas.openxmlformats.org/drawingml/2006/main">
            <a:off x="333375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An MVP with uneven traffic may keep app or automation capacity running when no user journey is active.</a:t>
            </a:r>
          </a:p>
        </p:txBody>
      </p:sp>
      <p:sp>
        <p:nvSpPr>
          <p:cNvPr id="11" name="text-625-172">
            <a:extLst xmlns:a="http://schemas.openxmlformats.org/drawingml/2006/main">
              <a:ext uri="{FF2B5EF4-FFF2-40B4-BE49-F238E27FC236}">
                <a16:creationId xmlns:a16="http://schemas.microsoft.com/office/drawing/2014/main" id="{79478C8F-9E5E-4680-BB45-F3F7F172BE8A}"/>
              </a:ext>
            </a:extLst>
          </p:cNvPr>
          <p:cNvSpPr>
            <a:spLocks xmlns:a="http://schemas.openxmlformats.org/drawingml/2006/main" noGrp="1"/>
          </p:cNvSpPr>
          <p:nvPr/>
        </p:nvSpPr>
        <p:spPr>
          <a:xfrm xmlns:a="http://schemas.openxmlformats.org/drawingml/2006/main">
            <a:off x="5953125"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CHANGE</a:t>
            </a:r>
          </a:p>
        </p:txBody>
      </p:sp>
      <p:sp>
        <p:nvSpPr>
          <p:cNvPr id="12" name="text-625-212">
            <a:extLst xmlns:a="http://schemas.openxmlformats.org/drawingml/2006/main">
              <a:ext uri="{FF2B5EF4-FFF2-40B4-BE49-F238E27FC236}">
                <a16:creationId xmlns:a16="http://schemas.microsoft.com/office/drawing/2014/main" id="{3AAB3A79-B7B3-4E87-9ED9-6A7BE939DB58}"/>
              </a:ext>
            </a:extLst>
          </p:cNvPr>
          <p:cNvSpPr>
            <a:spLocks xmlns:a="http://schemas.openxmlformats.org/drawingml/2006/main" noGrp="1"/>
          </p:cNvSpPr>
          <p:nvPr/>
        </p:nvSpPr>
        <p:spPr>
          <a:xfrm xmlns:a="http://schemas.openxmlformats.org/drawingml/2006/main">
            <a:off x="5953125"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Evaluate scale-to-zero/serverless execution, queue non-urgent image work and choose regions using data residency, latency and grid intensity together.</a:t>
            </a:r>
          </a:p>
        </p:txBody>
      </p:sp>
      <p:sp>
        <p:nvSpPr>
          <p:cNvPr id="13" name="text-900-172">
            <a:extLst xmlns:a="http://schemas.openxmlformats.org/drawingml/2006/main">
              <a:ext uri="{FF2B5EF4-FFF2-40B4-BE49-F238E27FC236}">
                <a16:creationId xmlns:a16="http://schemas.microsoft.com/office/drawing/2014/main" id="{38086F13-F322-453F-BA95-D4BD6084ACA9}"/>
              </a:ext>
            </a:extLst>
          </p:cNvPr>
          <p:cNvSpPr>
            <a:spLocks xmlns:a="http://schemas.openxmlformats.org/drawingml/2006/main" noGrp="1"/>
          </p:cNvSpPr>
          <p:nvPr/>
        </p:nvSpPr>
        <p:spPr>
          <a:xfrm xmlns:a="http://schemas.openxmlformats.org/drawingml/2006/main">
            <a:off x="8572500" y="1638300"/>
            <a:ext cx="21431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PROOF / GUARDRAIL</a:t>
            </a:r>
          </a:p>
        </p:txBody>
      </p:sp>
      <p:sp>
        <p:nvSpPr>
          <p:cNvPr id="14" name="text-900-212">
            <a:extLst xmlns:a="http://schemas.openxmlformats.org/drawingml/2006/main">
              <a:ext uri="{FF2B5EF4-FFF2-40B4-BE49-F238E27FC236}">
                <a16:creationId xmlns:a16="http://schemas.microsoft.com/office/drawing/2014/main" id="{5F66101E-A5E4-49E0-BFAC-916E975C1D86}"/>
              </a:ext>
            </a:extLst>
          </p:cNvPr>
          <p:cNvSpPr>
            <a:spLocks xmlns:a="http://schemas.openxmlformats.org/drawingml/2006/main" noGrp="1"/>
          </p:cNvSpPr>
          <p:nvPr/>
        </p:nvSpPr>
        <p:spPr>
          <a:xfrm xmlns:a="http://schemas.openxmlformats.org/drawingml/2006/main">
            <a:off x="8572500" y="2019300"/>
            <a:ext cx="2143125"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i="0">
                <a:solidFill>
                  <a:srgbClr val="101412"/>
                </a:solidFill>
              </a:defRPr>
            </a:pPr>
            <a:r>
              <a:rPr sz="1500" b="0" i="0">
                <a:solidFill>
                  <a:srgbClr val="101412"/>
                </a:solidFill>
              </a:rPr>
              <a:t>Measure idle hours, cold-start delay, queue time, CPU/memory utilization and provider region. Reject changes that breach the user SLA.</a:t>
            </a:r>
          </a:p>
        </p:txBody>
      </p:sp>
      <p:sp>
        <p:nvSpPr>
          <p:cNvPr id="15" name="impact-strip">
            <a:extLst xmlns:a="http://schemas.openxmlformats.org/drawingml/2006/main">
              <a:ext uri="{FF2B5EF4-FFF2-40B4-BE49-F238E27FC236}">
                <a16:creationId xmlns:a16="http://schemas.microsoft.com/office/drawing/2014/main" id="{2FF8882A-8B83-4D64-89D7-EA2C9D25D276}"/>
              </a:ext>
            </a:extLst>
          </p:cNvPr>
          <p:cNvSpPr>
            <a:spLocks xmlns:a="http://schemas.openxmlformats.org/drawingml/2006/main" noGrp="1"/>
          </p:cNvSpPr>
          <p:nvPr/>
        </p:nvSpPr>
        <p:spPr>
          <a:xfrm xmlns:a="http://schemas.openxmlformats.org/drawingml/2006/main">
            <a:off x="3333750" y="5286375"/>
            <a:ext cx="7381875" cy="552450"/>
          </a:xfrm>
          <a:prstGeom xmlns:a="http://schemas.openxmlformats.org/drawingml/2006/main" prst="rect">
            <a:avLst/>
          </a:prstGeom>
          <a:solidFill xmlns:a="http://schemas.openxmlformats.org/drawingml/2006/main">
            <a:srgbClr val="DDF0E4"/>
          </a:solidFill>
          <a:ln xmlns:a="http://schemas.openxmlformats.org/drawingml/2006/main" w="0">
            <a:solidFill>
              <a:srgbClr val="DDF0E4"/>
            </a:solidFill>
            <a:prstDash val="solid"/>
          </a:ln>
        </p:spPr>
      </p:sp>
      <p:sp>
        <p:nvSpPr>
          <p:cNvPr id="16" name="text-372-569">
            <a:extLst xmlns:a="http://schemas.openxmlformats.org/drawingml/2006/main">
              <a:ext uri="{FF2B5EF4-FFF2-40B4-BE49-F238E27FC236}">
                <a16:creationId xmlns:a16="http://schemas.microsoft.com/office/drawing/2014/main" id="{B829C8DA-C42B-4AAB-824F-F5DAFA31C54F}"/>
              </a:ext>
            </a:extLst>
          </p:cNvPr>
          <p:cNvSpPr>
            <a:spLocks xmlns:a="http://schemas.openxmlformats.org/drawingml/2006/main" noGrp="1"/>
          </p:cNvSpPr>
          <p:nvPr/>
        </p:nvSpPr>
        <p:spPr>
          <a:xfrm xmlns:a="http://schemas.openxmlformats.org/drawingml/2006/main">
            <a:off x="3543300" y="5419725"/>
            <a:ext cx="695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78704"/>
          </a:bodyPr>
          <a:lstStyle xmlns:a="http://schemas.openxmlformats.org/drawingml/2006/main"/>
          <a:p xmlns:a="http://schemas.openxmlformats.org/drawingml/2006/main">
            <a:pPr algn="l">
              <a:defRPr sz="1350" b="1" i="0">
                <a:solidFill>
                  <a:srgbClr val="173B28"/>
                </a:solidFill>
              </a:defRPr>
            </a:pPr>
            <a:r>
              <a:rPr sz="1350" b="1" i="0">
                <a:solidFill>
                  <a:srgbClr val="173B28"/>
                </a:solidFill>
              </a:rPr>
              <a:t>Expected direction: less idle energy and better hardware utilization; region shifts require full trade-off review.</a:t>
            </a:r>
          </a:p>
        </p:txBody>
      </p:sp>
      <p:cxnSp>
        <p:nvCxnSpPr>
          <p:cNvPr id="36" name="rule-48-645"/>
          <p:cNvCxnSpPr/>
          <p:nvPr/>
        </p:nvCxnSpPr>
        <p:spPr>
          <a:xfrm xmlns:a="http://schemas.openxmlformats.org/drawingml/2006/main">
            <a:off x="457200" y="6143625"/>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18" name="text-48-658">
            <a:extLst xmlns:a="http://schemas.openxmlformats.org/drawingml/2006/main">
              <a:ext uri="{FF2B5EF4-FFF2-40B4-BE49-F238E27FC236}">
                <a16:creationId xmlns:a16="http://schemas.microsoft.com/office/drawing/2014/main" id="{0E92FA73-0564-46C8-9045-0D79F5A62758}"/>
              </a:ext>
            </a:extLst>
          </p:cNvPr>
          <p:cNvSpPr>
            <a:spLocks xmlns:a="http://schemas.openxmlformats.org/drawingml/2006/main" noGrp="1"/>
          </p:cNvSpPr>
          <p:nvPr/>
        </p:nvSpPr>
        <p:spPr>
          <a:xfrm xmlns:a="http://schemas.openxmlformats.org/drawingml/2006/main">
            <a:off x="457200" y="6267450"/>
            <a:ext cx="495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PILLARS  CARBON · ENERGY · HARDWARE · MEASUREMENT</a:t>
            </a:r>
          </a:p>
        </p:txBody>
      </p:sp>
      <p:sp>
        <p:nvSpPr>
          <p:cNvPr id="19" name="text-530-658">
            <a:extLst xmlns:a="http://schemas.openxmlformats.org/drawingml/2006/main">
              <a:ext uri="{FF2B5EF4-FFF2-40B4-BE49-F238E27FC236}">
                <a16:creationId xmlns:a16="http://schemas.microsoft.com/office/drawing/2014/main" id="{71107A79-C7FF-465D-B006-CB593893B7FA}"/>
              </a:ext>
            </a:extLst>
          </p:cNvPr>
          <p:cNvSpPr>
            <a:spLocks xmlns:a="http://schemas.openxmlformats.org/drawingml/2006/main" noGrp="1"/>
          </p:cNvSpPr>
          <p:nvPr/>
        </p:nvSpPr>
        <p:spPr>
          <a:xfrm xmlns:a="http://schemas.openxmlformats.org/drawingml/2006/main">
            <a:off x="5048250" y="62674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GSF PATTERN  Scale down unused apps · Carbon-aware AI scheduling</a:t>
            </a:r>
          </a:p>
        </p:txBody>
      </p:sp>
    </p:spTree>
    <p:extLst>
      <p:ext uri="{BB962C8B-B14F-4D97-AF65-F5344CB8AC3E}">
        <p14:creationId xmlns:p14="http://schemas.microsoft.com/office/powerpoint/2010/main" val="160488176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text-48-26">
            <a:extLst xmlns:a="http://schemas.openxmlformats.org/drawingml/2006/main">
              <a:ext uri="{FF2B5EF4-FFF2-40B4-BE49-F238E27FC236}">
                <a16:creationId xmlns:a16="http://schemas.microsoft.com/office/drawing/2014/main" id="{64939D0F-9804-4D1B-9316-0DC66904684C}"/>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MEASUREMENT PLAN</a:t>
            </a:r>
          </a:p>
        </p:txBody>
      </p:sp>
      <p:sp>
        <p:nvSpPr>
          <p:cNvPr id="2" name="text-48-56">
            <a:extLst xmlns:a="http://schemas.openxmlformats.org/drawingml/2006/main">
              <a:ext uri="{FF2B5EF4-FFF2-40B4-BE49-F238E27FC236}">
                <a16:creationId xmlns:a16="http://schemas.microsoft.com/office/drawing/2014/main" id="{BA7D304B-2BA1-4A07-802E-A20186ACCE39}"/>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Measure one baseline week and one retrofit week</a:t>
            </a:r>
          </a:p>
        </p:txBody>
      </p:sp>
      <p:cxnSp>
        <p:nvCxnSpPr>
          <p:cNvPr id="35"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437F3628-2B9F-4A8C-B48A-8BEAEE207B80}"/>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10</a:t>
            </a:r>
          </a:p>
        </p:txBody>
      </p:sp>
      <p:sp>
        <p:nvSpPr>
          <p:cNvPr id="5" name="text-48-158">
            <a:extLst xmlns:a="http://schemas.openxmlformats.org/drawingml/2006/main">
              <a:ext uri="{FF2B5EF4-FFF2-40B4-BE49-F238E27FC236}">
                <a16:creationId xmlns:a16="http://schemas.microsoft.com/office/drawing/2014/main" id="{4BC6C398-FA57-4049-8F9C-DC0EA28C0C1F}"/>
              </a:ext>
            </a:extLst>
          </p:cNvPr>
          <p:cNvSpPr>
            <a:spLocks xmlns:a="http://schemas.openxmlformats.org/drawingml/2006/main" noGrp="1"/>
          </p:cNvSpPr>
          <p:nvPr/>
        </p:nvSpPr>
        <p:spPr>
          <a:xfrm xmlns:a="http://schemas.openxmlformats.org/drawingml/2006/main">
            <a:off x="457200" y="1504950"/>
            <a:ext cx="666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TWO-WEEK TEST SEQUENCE</a:t>
            </a:r>
          </a:p>
        </p:txBody>
      </p:sp>
      <p:cxnSp>
        <p:nvCxnSpPr>
          <p:cNvPr id="38" name="rule-95-270"/>
          <p:cNvCxnSpPr/>
          <p:nvPr/>
        </p:nvCxnSpPr>
        <p:spPr>
          <a:xfrm xmlns:a="http://schemas.openxmlformats.org/drawingml/2006/main">
            <a:off x="904875" y="2571750"/>
            <a:ext cx="6286500" cy="95"/>
          </a:xfrm>
          <a:prstGeom xmlns:a="http://schemas.openxmlformats.org/drawingml/2006/main" prst="straightConnector1">
            <a:avLst/>
          </a:prstGeom>
          <a:ln xmlns:a="http://schemas.openxmlformats.org/drawingml/2006/main" w="19050">
            <a:solidFill>
              <a:srgbClr val="101412"/>
            </a:solidFill>
            <a:prstDash val="solid"/>
          </a:ln>
        </p:spPr>
      </p:cxnSp>
      <p:sp>
        <p:nvSpPr>
          <p:cNvPr id="7" name="milestone-WEEK 0">
            <a:extLst xmlns:a="http://schemas.openxmlformats.org/drawingml/2006/main">
              <a:ext uri="{FF2B5EF4-FFF2-40B4-BE49-F238E27FC236}">
                <a16:creationId xmlns:a16="http://schemas.microsoft.com/office/drawing/2014/main" id="{E7B53094-7ECC-4284-827D-F0E226D85723}"/>
              </a:ext>
            </a:extLst>
          </p:cNvPr>
          <p:cNvSpPr>
            <a:spLocks xmlns:a="http://schemas.openxmlformats.org/drawingml/2006/main" noGrp="1"/>
          </p:cNvSpPr>
          <p:nvPr/>
        </p:nvSpPr>
        <p:spPr>
          <a:xfrm xmlns:a="http://schemas.openxmlformats.org/drawingml/2006/main">
            <a:off x="828675" y="2495550"/>
            <a:ext cx="152400" cy="152400"/>
          </a:xfrm>
          <a:prstGeom xmlns:a="http://schemas.openxmlformats.org/drawingml/2006/main" prst="ellipse">
            <a:avLst/>
          </a:prstGeom>
          <a:solidFill xmlns:a="http://schemas.openxmlformats.org/drawingml/2006/main">
            <a:srgbClr val="173B28"/>
          </a:solidFill>
          <a:ln xmlns:a="http://schemas.openxmlformats.org/drawingml/2006/main" w="0">
            <a:solidFill>
              <a:srgbClr val="173B28"/>
            </a:solidFill>
            <a:prstDash val="solid"/>
          </a:ln>
        </p:spPr>
      </p:sp>
      <p:sp>
        <p:nvSpPr>
          <p:cNvPr id="8" name="text-83-218">
            <a:extLst xmlns:a="http://schemas.openxmlformats.org/drawingml/2006/main">
              <a:ext uri="{FF2B5EF4-FFF2-40B4-BE49-F238E27FC236}">
                <a16:creationId xmlns:a16="http://schemas.microsoft.com/office/drawing/2014/main" id="{1C4701BA-DF6D-4259-8DD2-8D195D7B6B38}"/>
              </a:ext>
            </a:extLst>
          </p:cNvPr>
          <p:cNvSpPr>
            <a:spLocks xmlns:a="http://schemas.openxmlformats.org/drawingml/2006/main" noGrp="1"/>
          </p:cNvSpPr>
          <p:nvPr/>
        </p:nvSpPr>
        <p:spPr>
          <a:xfrm xmlns:a="http://schemas.openxmlformats.org/drawingml/2006/main">
            <a:off x="790575" y="2076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WEEK 0</a:t>
            </a:r>
          </a:p>
        </p:txBody>
      </p:sp>
      <p:sp>
        <p:nvSpPr>
          <p:cNvPr id="9" name="text-83-305">
            <a:extLst xmlns:a="http://schemas.openxmlformats.org/drawingml/2006/main">
              <a:ext uri="{FF2B5EF4-FFF2-40B4-BE49-F238E27FC236}">
                <a16:creationId xmlns:a16="http://schemas.microsoft.com/office/drawing/2014/main" id="{56F288F1-036D-4A8E-8FFA-8035AEE9764E}"/>
              </a:ext>
            </a:extLst>
          </p:cNvPr>
          <p:cNvSpPr>
            <a:spLocks xmlns:a="http://schemas.openxmlformats.org/drawingml/2006/main" noGrp="1"/>
          </p:cNvSpPr>
          <p:nvPr/>
        </p:nvSpPr>
        <p:spPr>
          <a:xfrm xmlns:a="http://schemas.openxmlformats.org/drawingml/2006/main">
            <a:off x="790575" y="29051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01412"/>
                </a:solidFill>
              </a:defRPr>
            </a:pPr>
            <a:r>
              <a:rPr sz="1725" b="1" i="0">
                <a:solidFill>
                  <a:srgbClr val="101412"/>
                </a:solidFill>
              </a:rPr>
              <a:t>Instrument</a:t>
            </a:r>
          </a:p>
        </p:txBody>
      </p:sp>
      <p:sp>
        <p:nvSpPr>
          <p:cNvPr id="10" name="text-83-348">
            <a:extLst xmlns:a="http://schemas.openxmlformats.org/drawingml/2006/main">
              <a:ext uri="{FF2B5EF4-FFF2-40B4-BE49-F238E27FC236}">
                <a16:creationId xmlns:a16="http://schemas.microsoft.com/office/drawing/2014/main" id="{10681402-79F7-48DE-82CB-9C4A74BA4CC8}"/>
              </a:ext>
            </a:extLst>
          </p:cNvPr>
          <p:cNvSpPr>
            <a:spLocks xmlns:a="http://schemas.openxmlformats.org/drawingml/2006/main" noGrp="1"/>
          </p:cNvSpPr>
          <p:nvPr/>
        </p:nvSpPr>
        <p:spPr>
          <a:xfrm xmlns:a="http://schemas.openxmlformats.org/drawingml/2006/main">
            <a:off x="790575" y="33147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Log calls, tokens, retries, images, bytes, latency and runtime per R.</a:t>
            </a:r>
          </a:p>
        </p:txBody>
      </p:sp>
      <p:sp>
        <p:nvSpPr>
          <p:cNvPr id="11" name="milestone-WEEK 1">
            <a:extLst xmlns:a="http://schemas.openxmlformats.org/drawingml/2006/main">
              <a:ext uri="{FF2B5EF4-FFF2-40B4-BE49-F238E27FC236}">
                <a16:creationId xmlns:a16="http://schemas.microsoft.com/office/drawing/2014/main" id="{8B2BCD9C-89CD-425B-B91F-AA89D788E5B0}"/>
              </a:ext>
            </a:extLst>
          </p:cNvPr>
          <p:cNvSpPr>
            <a:spLocks xmlns:a="http://schemas.openxmlformats.org/drawingml/2006/main" noGrp="1"/>
          </p:cNvSpPr>
          <p:nvPr/>
        </p:nvSpPr>
        <p:spPr>
          <a:xfrm xmlns:a="http://schemas.openxmlformats.org/drawingml/2006/main">
            <a:off x="3638550" y="2495550"/>
            <a:ext cx="152400" cy="152400"/>
          </a:xfrm>
          <a:prstGeom xmlns:a="http://schemas.openxmlformats.org/drawingml/2006/main" prst="ellipse">
            <a:avLst/>
          </a:prstGeom>
          <a:solidFill xmlns:a="http://schemas.openxmlformats.org/drawingml/2006/main">
            <a:srgbClr val="173B28"/>
          </a:solidFill>
          <a:ln xmlns:a="http://schemas.openxmlformats.org/drawingml/2006/main" w="0">
            <a:solidFill>
              <a:srgbClr val="173B28"/>
            </a:solidFill>
            <a:prstDash val="solid"/>
          </a:ln>
        </p:spPr>
      </p:sp>
      <p:sp>
        <p:nvSpPr>
          <p:cNvPr id="12" name="text-378-218">
            <a:extLst xmlns:a="http://schemas.openxmlformats.org/drawingml/2006/main">
              <a:ext uri="{FF2B5EF4-FFF2-40B4-BE49-F238E27FC236}">
                <a16:creationId xmlns:a16="http://schemas.microsoft.com/office/drawing/2014/main" id="{3B1AE820-24AF-4CD0-B377-1A93D1C970D5}"/>
              </a:ext>
            </a:extLst>
          </p:cNvPr>
          <p:cNvSpPr>
            <a:spLocks xmlns:a="http://schemas.openxmlformats.org/drawingml/2006/main" noGrp="1"/>
          </p:cNvSpPr>
          <p:nvPr/>
        </p:nvSpPr>
        <p:spPr>
          <a:xfrm xmlns:a="http://schemas.openxmlformats.org/drawingml/2006/main">
            <a:off x="3600450" y="2076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WEEK 1</a:t>
            </a:r>
          </a:p>
        </p:txBody>
      </p:sp>
      <p:sp>
        <p:nvSpPr>
          <p:cNvPr id="13" name="text-378-305">
            <a:extLst xmlns:a="http://schemas.openxmlformats.org/drawingml/2006/main">
              <a:ext uri="{FF2B5EF4-FFF2-40B4-BE49-F238E27FC236}">
                <a16:creationId xmlns:a16="http://schemas.microsoft.com/office/drawing/2014/main" id="{EED8323F-38E4-47F9-8504-47A85752B5D3}"/>
              </a:ext>
            </a:extLst>
          </p:cNvPr>
          <p:cNvSpPr>
            <a:spLocks xmlns:a="http://schemas.openxmlformats.org/drawingml/2006/main" noGrp="1"/>
          </p:cNvSpPr>
          <p:nvPr/>
        </p:nvSpPr>
        <p:spPr>
          <a:xfrm xmlns:a="http://schemas.openxmlformats.org/drawingml/2006/main">
            <a:off x="3600450" y="29051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01412"/>
                </a:solidFill>
              </a:defRPr>
            </a:pPr>
            <a:r>
              <a:rPr sz="1725" b="1" i="0">
                <a:solidFill>
                  <a:srgbClr val="101412"/>
                </a:solidFill>
              </a:rPr>
              <a:t>Baseline</a:t>
            </a:r>
          </a:p>
        </p:txBody>
      </p:sp>
      <p:sp>
        <p:nvSpPr>
          <p:cNvPr id="14" name="text-378-348">
            <a:extLst xmlns:a="http://schemas.openxmlformats.org/drawingml/2006/main">
              <a:ext uri="{FF2B5EF4-FFF2-40B4-BE49-F238E27FC236}">
                <a16:creationId xmlns:a16="http://schemas.microsoft.com/office/drawing/2014/main" id="{047E5F31-0975-4F34-BB5F-5C1B1E23A619}"/>
              </a:ext>
            </a:extLst>
          </p:cNvPr>
          <p:cNvSpPr>
            <a:spLocks xmlns:a="http://schemas.openxmlformats.org/drawingml/2006/main" noGrp="1"/>
          </p:cNvSpPr>
          <p:nvPr/>
        </p:nvSpPr>
        <p:spPr>
          <a:xfrm xmlns:a="http://schemas.openxmlformats.org/drawingml/2006/main">
            <a:off x="3600450" y="33147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Observe the current stack without changing the user journey.</a:t>
            </a:r>
          </a:p>
        </p:txBody>
      </p:sp>
      <p:sp>
        <p:nvSpPr>
          <p:cNvPr id="15" name="milestone-WEEK 2">
            <a:extLst xmlns:a="http://schemas.openxmlformats.org/drawingml/2006/main">
              <a:ext uri="{FF2B5EF4-FFF2-40B4-BE49-F238E27FC236}">
                <a16:creationId xmlns:a16="http://schemas.microsoft.com/office/drawing/2014/main" id="{6EF41647-4C00-4486-80D6-5ECBBF50A8C4}"/>
              </a:ext>
            </a:extLst>
          </p:cNvPr>
          <p:cNvSpPr>
            <a:spLocks xmlns:a="http://schemas.openxmlformats.org/drawingml/2006/main" noGrp="1"/>
          </p:cNvSpPr>
          <p:nvPr/>
        </p:nvSpPr>
        <p:spPr>
          <a:xfrm xmlns:a="http://schemas.openxmlformats.org/drawingml/2006/main">
            <a:off x="6448425" y="2495550"/>
            <a:ext cx="152400" cy="152400"/>
          </a:xfrm>
          <a:prstGeom xmlns:a="http://schemas.openxmlformats.org/drawingml/2006/main" prst="ellipse">
            <a:avLst/>
          </a:prstGeom>
          <a:solidFill xmlns:a="http://schemas.openxmlformats.org/drawingml/2006/main">
            <a:srgbClr val="173B28"/>
          </a:solidFill>
          <a:ln xmlns:a="http://schemas.openxmlformats.org/drawingml/2006/main" w="0">
            <a:solidFill>
              <a:srgbClr val="173B28"/>
            </a:solidFill>
            <a:prstDash val="solid"/>
          </a:ln>
        </p:spPr>
      </p:sp>
      <p:sp>
        <p:nvSpPr>
          <p:cNvPr id="16" name="text-673-218">
            <a:extLst xmlns:a="http://schemas.openxmlformats.org/drawingml/2006/main">
              <a:ext uri="{FF2B5EF4-FFF2-40B4-BE49-F238E27FC236}">
                <a16:creationId xmlns:a16="http://schemas.microsoft.com/office/drawing/2014/main" id="{4480921E-5453-44D8-8FBF-876E2BE3B198}"/>
              </a:ext>
            </a:extLst>
          </p:cNvPr>
          <p:cNvSpPr>
            <a:spLocks xmlns:a="http://schemas.openxmlformats.org/drawingml/2006/main" noGrp="1"/>
          </p:cNvSpPr>
          <p:nvPr/>
        </p:nvSpPr>
        <p:spPr>
          <a:xfrm xmlns:a="http://schemas.openxmlformats.org/drawingml/2006/main">
            <a:off x="6410325" y="2076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WEEK 2</a:t>
            </a:r>
          </a:p>
        </p:txBody>
      </p:sp>
      <p:sp>
        <p:nvSpPr>
          <p:cNvPr id="17" name="text-673-305">
            <a:extLst xmlns:a="http://schemas.openxmlformats.org/drawingml/2006/main">
              <a:ext uri="{FF2B5EF4-FFF2-40B4-BE49-F238E27FC236}">
                <a16:creationId xmlns:a16="http://schemas.microsoft.com/office/drawing/2014/main" id="{3D0C7EF1-07D1-46AC-B73F-24E7D7070A01}"/>
              </a:ext>
            </a:extLst>
          </p:cNvPr>
          <p:cNvSpPr>
            <a:spLocks xmlns:a="http://schemas.openxmlformats.org/drawingml/2006/main" noGrp="1"/>
          </p:cNvSpPr>
          <p:nvPr/>
        </p:nvSpPr>
        <p:spPr>
          <a:xfrm xmlns:a="http://schemas.openxmlformats.org/drawingml/2006/main">
            <a:off x="6410325" y="2905125"/>
            <a:ext cx="1809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i="0">
                <a:solidFill>
                  <a:srgbClr val="101412"/>
                </a:solidFill>
              </a:defRPr>
            </a:pPr>
            <a:r>
              <a:rPr sz="1725" b="1" i="0">
                <a:solidFill>
                  <a:srgbClr val="101412"/>
                </a:solidFill>
              </a:rPr>
              <a:t>Retrofit</a:t>
            </a:r>
          </a:p>
        </p:txBody>
      </p:sp>
      <p:sp>
        <p:nvSpPr>
          <p:cNvPr id="18" name="text-673-348">
            <a:extLst xmlns:a="http://schemas.openxmlformats.org/drawingml/2006/main">
              <a:ext uri="{FF2B5EF4-FFF2-40B4-BE49-F238E27FC236}">
                <a16:creationId xmlns:a16="http://schemas.microsoft.com/office/drawing/2014/main" id="{5B7747F2-8EE5-4C90-9A08-60EE329E2C10}"/>
              </a:ext>
            </a:extLst>
          </p:cNvPr>
          <p:cNvSpPr>
            <a:spLocks xmlns:a="http://schemas.openxmlformats.org/drawingml/2006/main" noGrp="1"/>
          </p:cNvSpPr>
          <p:nvPr/>
        </p:nvSpPr>
        <p:spPr>
          <a:xfrm xmlns:a="http://schemas.openxmlformats.org/drawingml/2006/main">
            <a:off x="6410325" y="3314700"/>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Enable the four levers; compare like-for-like journeys.</a:t>
            </a:r>
          </a:p>
        </p:txBody>
      </p:sp>
      <p:cxnSp>
        <p:nvCxnSpPr>
          <p:cNvPr id="51" name="vrule-815-160"/>
          <p:cNvCxnSpPr/>
          <p:nvPr/>
        </p:nvCxnSpPr>
        <p:spPr>
          <a:xfrm xmlns:a="http://schemas.openxmlformats.org/drawingml/2006/main">
            <a:off x="7762875" y="1524000"/>
            <a:ext cx="95" cy="4267200"/>
          </a:xfrm>
          <a:prstGeom xmlns:a="http://schemas.openxmlformats.org/drawingml/2006/main" prst="straightConnector1">
            <a:avLst/>
          </a:prstGeom>
          <a:ln xmlns:a="http://schemas.openxmlformats.org/drawingml/2006/main" w="9525">
            <a:solidFill>
              <a:srgbClr val="B8C0BA"/>
            </a:solidFill>
            <a:prstDash val="solid"/>
          </a:ln>
        </p:spPr>
      </p:cxnSp>
      <p:sp>
        <p:nvSpPr>
          <p:cNvPr id="20" name="text-860-158">
            <a:extLst xmlns:a="http://schemas.openxmlformats.org/drawingml/2006/main">
              <a:ext uri="{FF2B5EF4-FFF2-40B4-BE49-F238E27FC236}">
                <a16:creationId xmlns:a16="http://schemas.microsoft.com/office/drawing/2014/main" id="{5EF1D932-FDC6-4EF7-94A1-8C63BD36BC2E}"/>
              </a:ext>
            </a:extLst>
          </p:cNvPr>
          <p:cNvSpPr>
            <a:spLocks xmlns:a="http://schemas.openxmlformats.org/drawingml/2006/main" noGrp="1"/>
          </p:cNvSpPr>
          <p:nvPr/>
        </p:nvSpPr>
        <p:spPr>
          <a:xfrm xmlns:a="http://schemas.openxmlformats.org/drawingml/2006/main">
            <a:off x="8191500" y="15049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DECISION THRESHOLDS</a:t>
            </a:r>
          </a:p>
        </p:txBody>
      </p:sp>
      <p:sp>
        <p:nvSpPr>
          <p:cNvPr id="21" name="text-860-205">
            <a:extLst xmlns:a="http://schemas.openxmlformats.org/drawingml/2006/main">
              <a:ext uri="{FF2B5EF4-FFF2-40B4-BE49-F238E27FC236}">
                <a16:creationId xmlns:a16="http://schemas.microsoft.com/office/drawing/2014/main" id="{CBC65D89-F188-4ECA-A73A-B0482FB6B30B}"/>
              </a:ext>
            </a:extLst>
          </p:cNvPr>
          <p:cNvSpPr>
            <a:spLocks xmlns:a="http://schemas.openxmlformats.org/drawingml/2006/main" noGrp="1"/>
          </p:cNvSpPr>
          <p:nvPr/>
        </p:nvSpPr>
        <p:spPr>
          <a:xfrm xmlns:a="http://schemas.openxmlformats.org/drawingml/2006/main">
            <a:off x="8191500" y="195262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i="0">
                <a:solidFill>
                  <a:srgbClr val="173B28"/>
                </a:solidFill>
              </a:defRPr>
            </a:pPr>
            <a:r>
              <a:rPr sz="2175" b="1" i="0">
                <a:solidFill>
                  <a:srgbClr val="173B28"/>
                </a:solidFill>
              </a:rPr>
              <a:t>≥30%</a:t>
            </a:r>
          </a:p>
        </p:txBody>
      </p:sp>
      <p:sp>
        <p:nvSpPr>
          <p:cNvPr id="22" name="text-1005-210">
            <a:extLst xmlns:a="http://schemas.openxmlformats.org/drawingml/2006/main">
              <a:ext uri="{FF2B5EF4-FFF2-40B4-BE49-F238E27FC236}">
                <a16:creationId xmlns:a16="http://schemas.microsoft.com/office/drawing/2014/main" id="{011BF6AE-871E-4EFC-B37D-FDC0BDBEA682}"/>
              </a:ext>
            </a:extLst>
          </p:cNvPr>
          <p:cNvSpPr>
            <a:spLocks xmlns:a="http://schemas.openxmlformats.org/drawingml/2006/main" noGrp="1"/>
          </p:cNvSpPr>
          <p:nvPr/>
        </p:nvSpPr>
        <p:spPr>
          <a:xfrm xmlns:a="http://schemas.openxmlformats.org/drawingml/2006/main">
            <a:off x="9572625" y="200025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fewer model calls per R</a:t>
            </a:r>
          </a:p>
        </p:txBody>
      </p:sp>
      <p:cxnSp>
        <p:nvCxnSpPr>
          <p:cNvPr id="55" name="rule-860-273"/>
          <p:cNvCxnSpPr/>
          <p:nvPr/>
        </p:nvCxnSpPr>
        <p:spPr>
          <a:xfrm xmlns:a="http://schemas.openxmlformats.org/drawingml/2006/main">
            <a:off x="8191500" y="2600325"/>
            <a:ext cx="3048000" cy="95"/>
          </a:xfrm>
          <a:prstGeom xmlns:a="http://schemas.openxmlformats.org/drawingml/2006/main" prst="straightConnector1">
            <a:avLst/>
          </a:prstGeom>
          <a:ln xmlns:a="http://schemas.openxmlformats.org/drawingml/2006/main" w="9525">
            <a:solidFill>
              <a:srgbClr val="B8C0BA"/>
            </a:solidFill>
            <a:prstDash val="solid"/>
          </a:ln>
        </p:spPr>
      </p:cxnSp>
      <p:sp>
        <p:nvSpPr>
          <p:cNvPr id="24" name="text-860-297">
            <a:extLst xmlns:a="http://schemas.openxmlformats.org/drawingml/2006/main">
              <a:ext uri="{FF2B5EF4-FFF2-40B4-BE49-F238E27FC236}">
                <a16:creationId xmlns:a16="http://schemas.microsoft.com/office/drawing/2014/main" id="{0F0D0824-3EFB-4769-9FD5-EE40133C9403}"/>
              </a:ext>
            </a:extLst>
          </p:cNvPr>
          <p:cNvSpPr>
            <a:spLocks xmlns:a="http://schemas.openxmlformats.org/drawingml/2006/main" noGrp="1"/>
          </p:cNvSpPr>
          <p:nvPr/>
        </p:nvSpPr>
        <p:spPr>
          <a:xfrm xmlns:a="http://schemas.openxmlformats.org/drawingml/2006/main">
            <a:off x="8191500" y="282892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i="0">
                <a:solidFill>
                  <a:srgbClr val="173B28"/>
                </a:solidFill>
              </a:defRPr>
            </a:pPr>
            <a:r>
              <a:rPr sz="2175" b="1" i="0">
                <a:solidFill>
                  <a:srgbClr val="173B28"/>
                </a:solidFill>
              </a:rPr>
              <a:t>≥25%</a:t>
            </a:r>
          </a:p>
        </p:txBody>
      </p:sp>
      <p:sp>
        <p:nvSpPr>
          <p:cNvPr id="25" name="text-1005-302">
            <a:extLst xmlns:a="http://schemas.openxmlformats.org/drawingml/2006/main">
              <a:ext uri="{FF2B5EF4-FFF2-40B4-BE49-F238E27FC236}">
                <a16:creationId xmlns:a16="http://schemas.microsoft.com/office/drawing/2014/main" id="{3BD23E54-1950-4A62-83AB-3580F85172DC}"/>
              </a:ext>
            </a:extLst>
          </p:cNvPr>
          <p:cNvSpPr>
            <a:spLocks xmlns:a="http://schemas.openxmlformats.org/drawingml/2006/main" noGrp="1"/>
          </p:cNvSpPr>
          <p:nvPr/>
        </p:nvSpPr>
        <p:spPr>
          <a:xfrm xmlns:a="http://schemas.openxmlformats.org/drawingml/2006/main">
            <a:off x="9572625" y="287655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fewer tokens per R</a:t>
            </a:r>
          </a:p>
        </p:txBody>
      </p:sp>
      <p:cxnSp>
        <p:nvCxnSpPr>
          <p:cNvPr id="58" name="rule-860-365"/>
          <p:cNvCxnSpPr/>
          <p:nvPr/>
        </p:nvCxnSpPr>
        <p:spPr>
          <a:xfrm xmlns:a="http://schemas.openxmlformats.org/drawingml/2006/main">
            <a:off x="8191500" y="3476625"/>
            <a:ext cx="3048000" cy="95"/>
          </a:xfrm>
          <a:prstGeom xmlns:a="http://schemas.openxmlformats.org/drawingml/2006/main" prst="straightConnector1">
            <a:avLst/>
          </a:prstGeom>
          <a:ln xmlns:a="http://schemas.openxmlformats.org/drawingml/2006/main" w="9525">
            <a:solidFill>
              <a:srgbClr val="B8C0BA"/>
            </a:solidFill>
            <a:prstDash val="solid"/>
          </a:ln>
        </p:spPr>
      </p:cxnSp>
      <p:sp>
        <p:nvSpPr>
          <p:cNvPr id="27" name="text-860-389">
            <a:extLst xmlns:a="http://schemas.openxmlformats.org/drawingml/2006/main">
              <a:ext uri="{FF2B5EF4-FFF2-40B4-BE49-F238E27FC236}">
                <a16:creationId xmlns:a16="http://schemas.microsoft.com/office/drawing/2014/main" id="{41684ACB-339F-4755-A1A8-9E8515B8E22C}"/>
              </a:ext>
            </a:extLst>
          </p:cNvPr>
          <p:cNvSpPr>
            <a:spLocks xmlns:a="http://schemas.openxmlformats.org/drawingml/2006/main" noGrp="1"/>
          </p:cNvSpPr>
          <p:nvPr/>
        </p:nvSpPr>
        <p:spPr>
          <a:xfrm xmlns:a="http://schemas.openxmlformats.org/drawingml/2006/main">
            <a:off x="8191500" y="370522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i="0">
                <a:solidFill>
                  <a:srgbClr val="173B28"/>
                </a:solidFill>
              </a:defRPr>
            </a:pPr>
            <a:r>
              <a:rPr sz="2175" b="1" i="0">
                <a:solidFill>
                  <a:srgbClr val="173B28"/>
                </a:solidFill>
              </a:rPr>
              <a:t>≥50%</a:t>
            </a:r>
          </a:p>
        </p:txBody>
      </p:sp>
      <p:sp>
        <p:nvSpPr>
          <p:cNvPr id="28" name="text-1005-394">
            <a:extLst xmlns:a="http://schemas.openxmlformats.org/drawingml/2006/main">
              <a:ext uri="{FF2B5EF4-FFF2-40B4-BE49-F238E27FC236}">
                <a16:creationId xmlns:a16="http://schemas.microsoft.com/office/drawing/2014/main" id="{C1770811-C021-4CDC-BB9A-1FE33347B6B7}"/>
              </a:ext>
            </a:extLst>
          </p:cNvPr>
          <p:cNvSpPr>
            <a:spLocks xmlns:a="http://schemas.openxmlformats.org/drawingml/2006/main" noGrp="1"/>
          </p:cNvSpPr>
          <p:nvPr/>
        </p:nvSpPr>
        <p:spPr>
          <a:xfrm xmlns:a="http://schemas.openxmlformats.org/drawingml/2006/main">
            <a:off x="9572625" y="375285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fewer intermediate bytes retained</a:t>
            </a:r>
          </a:p>
        </p:txBody>
      </p:sp>
      <p:cxnSp>
        <p:nvCxnSpPr>
          <p:cNvPr id="61" name="rule-860-457"/>
          <p:cNvCxnSpPr/>
          <p:nvPr/>
        </p:nvCxnSpPr>
        <p:spPr>
          <a:xfrm xmlns:a="http://schemas.openxmlformats.org/drawingml/2006/main">
            <a:off x="8191500" y="4352925"/>
            <a:ext cx="3048000" cy="95"/>
          </a:xfrm>
          <a:prstGeom xmlns:a="http://schemas.openxmlformats.org/drawingml/2006/main" prst="straightConnector1">
            <a:avLst/>
          </a:prstGeom>
          <a:ln xmlns:a="http://schemas.openxmlformats.org/drawingml/2006/main" w="9525">
            <a:solidFill>
              <a:srgbClr val="B8C0BA"/>
            </a:solidFill>
            <a:prstDash val="solid"/>
          </a:ln>
        </p:spPr>
      </p:cxnSp>
      <p:sp>
        <p:nvSpPr>
          <p:cNvPr id="30" name="text-860-481">
            <a:extLst xmlns:a="http://schemas.openxmlformats.org/drawingml/2006/main">
              <a:ext uri="{FF2B5EF4-FFF2-40B4-BE49-F238E27FC236}">
                <a16:creationId xmlns:a16="http://schemas.microsoft.com/office/drawing/2014/main" id="{73209E38-F93D-4EF9-975E-C128AAE2EE55}"/>
              </a:ext>
            </a:extLst>
          </p:cNvPr>
          <p:cNvSpPr>
            <a:spLocks xmlns:a="http://schemas.openxmlformats.org/drawingml/2006/main" noGrp="1"/>
          </p:cNvSpPr>
          <p:nvPr/>
        </p:nvSpPr>
        <p:spPr>
          <a:xfrm xmlns:a="http://schemas.openxmlformats.org/drawingml/2006/main">
            <a:off x="8191500" y="4581525"/>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175" b="1" i="0">
                <a:solidFill>
                  <a:srgbClr val="D48449"/>
                </a:solidFill>
              </a:defRPr>
            </a:pPr>
            <a:r>
              <a:rPr sz="2175" b="1" i="0">
                <a:solidFill>
                  <a:srgbClr val="D48449"/>
                </a:solidFill>
              </a:rPr>
              <a:t>NO LOSS</a:t>
            </a:r>
          </a:p>
        </p:txBody>
      </p:sp>
      <p:sp>
        <p:nvSpPr>
          <p:cNvPr id="31" name="text-1005-486">
            <a:extLst xmlns:a="http://schemas.openxmlformats.org/drawingml/2006/main">
              <a:ext uri="{FF2B5EF4-FFF2-40B4-BE49-F238E27FC236}">
                <a16:creationId xmlns:a16="http://schemas.microsoft.com/office/drawing/2014/main" id="{9C89FF97-B45B-47F4-9F99-F8C0DABF6736}"/>
              </a:ext>
            </a:extLst>
          </p:cNvPr>
          <p:cNvSpPr>
            <a:spLocks xmlns:a="http://schemas.openxmlformats.org/drawingml/2006/main" noGrp="1"/>
          </p:cNvSpPr>
          <p:nvPr/>
        </p:nvSpPr>
        <p:spPr>
          <a:xfrm xmlns:a="http://schemas.openxmlformats.org/drawingml/2006/main">
            <a:off x="9572625" y="462915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0">
                <a:solidFill>
                  <a:srgbClr val="53605A"/>
                </a:solidFill>
              </a:defRPr>
            </a:pPr>
            <a:r>
              <a:rPr sz="1275" b="0" i="0">
                <a:solidFill>
                  <a:srgbClr val="53605A"/>
                </a:solidFill>
              </a:rPr>
              <a:t>in usefulness / distinctiveness</a:t>
            </a:r>
          </a:p>
        </p:txBody>
      </p:sp>
      <p:sp>
        <p:nvSpPr>
          <p:cNvPr id="32" name="text-48-598">
            <a:extLst xmlns:a="http://schemas.openxmlformats.org/drawingml/2006/main">
              <a:ext uri="{FF2B5EF4-FFF2-40B4-BE49-F238E27FC236}">
                <a16:creationId xmlns:a16="http://schemas.microsoft.com/office/drawing/2014/main" id="{CFF65A9A-103D-463B-B6E2-3914FECE4FE9}"/>
              </a:ext>
            </a:extLst>
          </p:cNvPr>
          <p:cNvSpPr>
            <a:spLocks xmlns:a="http://schemas.openxmlformats.org/drawingml/2006/main" noGrp="1"/>
          </p:cNvSpPr>
          <p:nvPr/>
        </p:nvSpPr>
        <p:spPr>
          <a:xfrm xmlns:a="http://schemas.openxmlformats.org/drawingml/2006/main">
            <a:off x="457200" y="5695950"/>
            <a:ext cx="685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275" b="0" i="1">
                <a:solidFill>
                  <a:srgbClr val="53605A"/>
                </a:solidFill>
              </a:defRPr>
            </a:pPr>
            <a:r>
              <a:rPr sz="1275" b="0" i="1">
                <a:solidFill>
                  <a:srgbClr val="53605A"/>
                </a:solidFill>
              </a:rPr>
              <a:t>Cost is a useful proxy; it is not a carbon metric.</a:t>
            </a:r>
          </a:p>
        </p:txBody>
      </p:sp>
    </p:spTree>
    <p:extLst>
      <p:ext uri="{BB962C8B-B14F-4D97-AF65-F5344CB8AC3E}">
        <p14:creationId xmlns:p14="http://schemas.microsoft.com/office/powerpoint/2010/main" val="18212581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48-26">
            <a:extLst xmlns:a="http://schemas.openxmlformats.org/drawingml/2006/main">
              <a:ext uri="{FF2B5EF4-FFF2-40B4-BE49-F238E27FC236}">
                <a16:creationId xmlns:a16="http://schemas.microsoft.com/office/drawing/2014/main" id="{6F4F3C1F-A42C-401F-897B-603111333B76}"/>
              </a:ext>
            </a:extLst>
          </p:cNvPr>
          <p:cNvSpPr>
            <a:spLocks xmlns:a="http://schemas.openxmlformats.org/drawingml/2006/main" noGrp="1"/>
          </p:cNvSpPr>
          <p:nvPr/>
        </p:nvSpPr>
        <p:spPr>
          <a:xfrm xmlns:a="http://schemas.openxmlformats.org/drawingml/2006/main">
            <a:off x="457200" y="247650"/>
            <a:ext cx="4953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CAVEATS · NO GREENWASHING</a:t>
            </a:r>
          </a:p>
        </p:txBody>
      </p:sp>
      <p:sp>
        <p:nvSpPr>
          <p:cNvPr id="2" name="text-48-56">
            <a:extLst xmlns:a="http://schemas.openxmlformats.org/drawingml/2006/main">
              <a:ext uri="{FF2B5EF4-FFF2-40B4-BE49-F238E27FC236}">
                <a16:creationId xmlns:a16="http://schemas.microsoft.com/office/drawing/2014/main" id="{8C9DBB58-A304-4B07-BFFF-6E449063B858}"/>
              </a:ext>
            </a:extLst>
          </p:cNvPr>
          <p:cNvSpPr>
            <a:spLocks xmlns:a="http://schemas.openxmlformats.org/drawingml/2006/main" noGrp="1"/>
          </p:cNvSpPr>
          <p:nvPr/>
        </p:nvSpPr>
        <p:spPr>
          <a:xfrm xmlns:a="http://schemas.openxmlformats.org/drawingml/2006/main">
            <a:off x="457200" y="533400"/>
            <a:ext cx="11049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000" b="1" i="0">
                <a:solidFill>
                  <a:srgbClr val="101412"/>
                </a:solidFill>
              </a:defRPr>
            </a:pPr>
            <a:r>
              <a:rPr sz="3000" b="1" i="0">
                <a:solidFill>
                  <a:srgbClr val="101412"/>
                </a:solidFill>
              </a:rPr>
              <a:t>Carbon claims stop where the evidence stops</a:t>
            </a:r>
          </a:p>
        </p:txBody>
      </p:sp>
      <p:cxnSp>
        <p:nvCxnSpPr>
          <p:cNvPr id="22" name="rule-48-128"/>
          <p:cNvCxnSpPr/>
          <p:nvPr/>
        </p:nvCxnSpPr>
        <p:spPr>
          <a:xfrm xmlns:a="http://schemas.openxmlformats.org/drawingml/2006/main">
            <a:off x="457200" y="1219200"/>
            <a:ext cx="11277600" cy="95"/>
          </a:xfrm>
          <a:prstGeom xmlns:a="http://schemas.openxmlformats.org/drawingml/2006/main" prst="straightConnector1">
            <a:avLst/>
          </a:prstGeom>
          <a:ln xmlns:a="http://schemas.openxmlformats.org/drawingml/2006/main" w="9525">
            <a:solidFill>
              <a:srgbClr val="B8C0BA"/>
            </a:solidFill>
            <a:prstDash val="solid"/>
          </a:ln>
        </p:spPr>
      </p:cxnSp>
      <p:sp>
        <p:nvSpPr>
          <p:cNvPr id="4" name="text-1180-675">
            <a:extLst xmlns:a="http://schemas.openxmlformats.org/drawingml/2006/main">
              <a:ext uri="{FF2B5EF4-FFF2-40B4-BE49-F238E27FC236}">
                <a16:creationId xmlns:a16="http://schemas.microsoft.com/office/drawing/2014/main" id="{FE70389F-36A7-4E3E-8978-AA8C49B8FF47}"/>
              </a:ext>
            </a:extLst>
          </p:cNvPr>
          <p:cNvSpPr>
            <a:spLocks xmlns:a="http://schemas.openxmlformats.org/drawingml/2006/main" noGrp="1"/>
          </p:cNvSpPr>
          <p:nvPr/>
        </p:nvSpPr>
        <p:spPr>
          <a:xfrm xmlns:a="http://schemas.openxmlformats.org/drawingml/2006/main">
            <a:off x="11239500" y="6429375"/>
            <a:ext cx="4953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0">
                <a:solidFill>
                  <a:srgbClr val="53605A"/>
                </a:solidFill>
              </a:defRPr>
            </a:pPr>
            <a:r>
              <a:rPr sz="975" b="0" i="0">
                <a:solidFill>
                  <a:srgbClr val="53605A"/>
                </a:solidFill>
              </a:rPr>
              <a:t>11</a:t>
            </a:r>
          </a:p>
        </p:txBody>
      </p:sp>
      <p:sp>
        <p:nvSpPr>
          <p:cNvPr id="5" name="can-claim">
            <a:extLst xmlns:a="http://schemas.openxmlformats.org/drawingml/2006/main">
              <a:ext uri="{FF2B5EF4-FFF2-40B4-BE49-F238E27FC236}">
                <a16:creationId xmlns:a16="http://schemas.microsoft.com/office/drawing/2014/main" id="{EC955D50-DEB9-4CF5-B0C7-D8BC305DC875}"/>
              </a:ext>
            </a:extLst>
          </p:cNvPr>
          <p:cNvSpPr>
            <a:spLocks xmlns:a="http://schemas.openxmlformats.org/drawingml/2006/main" noGrp="1"/>
          </p:cNvSpPr>
          <p:nvPr/>
        </p:nvSpPr>
        <p:spPr>
          <a:xfrm xmlns:a="http://schemas.openxmlformats.org/drawingml/2006/main">
            <a:off x="457200" y="1619250"/>
            <a:ext cx="5191125" cy="3048000"/>
          </a:xfrm>
          <a:prstGeom xmlns:a="http://schemas.openxmlformats.org/drawingml/2006/main" prst="rect">
            <a:avLst/>
          </a:prstGeom>
          <a:solidFill xmlns:a="http://schemas.openxmlformats.org/drawingml/2006/main">
            <a:srgbClr val="DDF0E4"/>
          </a:solidFill>
          <a:ln xmlns:a="http://schemas.openxmlformats.org/drawingml/2006/main" w="0">
            <a:solidFill>
              <a:srgbClr val="DDF0E4"/>
            </a:solidFill>
            <a:prstDash val="solid"/>
          </a:ln>
        </p:spPr>
      </p:sp>
      <p:sp>
        <p:nvSpPr>
          <p:cNvPr id="6" name="cannot-claim">
            <a:extLst xmlns:a="http://schemas.openxmlformats.org/drawingml/2006/main">
              <a:ext uri="{FF2B5EF4-FFF2-40B4-BE49-F238E27FC236}">
                <a16:creationId xmlns:a16="http://schemas.microsoft.com/office/drawing/2014/main" id="{290108EA-6289-4804-8282-9864EBA88B56}"/>
              </a:ext>
            </a:extLst>
          </p:cNvPr>
          <p:cNvSpPr>
            <a:spLocks xmlns:a="http://schemas.openxmlformats.org/drawingml/2006/main" noGrp="1"/>
          </p:cNvSpPr>
          <p:nvPr/>
        </p:nvSpPr>
        <p:spPr>
          <a:xfrm xmlns:a="http://schemas.openxmlformats.org/drawingml/2006/main">
            <a:off x="6048375" y="1619250"/>
            <a:ext cx="5191125" cy="3048000"/>
          </a:xfrm>
          <a:prstGeom xmlns:a="http://schemas.openxmlformats.org/drawingml/2006/main" prst="rect">
            <a:avLst/>
          </a:prstGeom>
          <a:solidFill xmlns:a="http://schemas.openxmlformats.org/drawingml/2006/main">
            <a:srgbClr val="F6E7DB"/>
          </a:solidFill>
          <a:ln xmlns:a="http://schemas.openxmlformats.org/drawingml/2006/main" w="0">
            <a:solidFill>
              <a:srgbClr val="F6E7DB"/>
            </a:solidFill>
            <a:prstDash val="solid"/>
          </a:ln>
        </p:spPr>
      </p:sp>
      <p:sp>
        <p:nvSpPr>
          <p:cNvPr id="7" name="text-78-200">
            <a:extLst xmlns:a="http://schemas.openxmlformats.org/drawingml/2006/main">
              <a:ext uri="{FF2B5EF4-FFF2-40B4-BE49-F238E27FC236}">
                <a16:creationId xmlns:a16="http://schemas.microsoft.com/office/drawing/2014/main" id="{442C781E-D3F2-4D4A-AAC7-04C93199C252}"/>
              </a:ext>
            </a:extLst>
          </p:cNvPr>
          <p:cNvSpPr>
            <a:spLocks xmlns:a="http://schemas.openxmlformats.org/drawingml/2006/main" noGrp="1"/>
          </p:cNvSpPr>
          <p:nvPr/>
        </p:nvSpPr>
        <p:spPr>
          <a:xfrm xmlns:a="http://schemas.openxmlformats.org/drawingml/2006/main">
            <a:off x="742950" y="19050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WE CAN CLAIM</a:t>
            </a:r>
          </a:p>
        </p:txBody>
      </p:sp>
      <p:sp>
        <p:nvSpPr>
          <p:cNvPr id="8" name="text-78-245">
            <a:extLst xmlns:a="http://schemas.openxmlformats.org/drawingml/2006/main">
              <a:ext uri="{FF2B5EF4-FFF2-40B4-BE49-F238E27FC236}">
                <a16:creationId xmlns:a16="http://schemas.microsoft.com/office/drawing/2014/main" id="{4B43B446-25B1-47FD-A557-7C3A77D57465}"/>
              </a:ext>
            </a:extLst>
          </p:cNvPr>
          <p:cNvSpPr>
            <a:spLocks xmlns:a="http://schemas.openxmlformats.org/drawingml/2006/main" noGrp="1"/>
          </p:cNvSpPr>
          <p:nvPr/>
        </p:nvSpPr>
        <p:spPr>
          <a:xfrm xmlns:a="http://schemas.openxmlformats.org/drawingml/2006/main">
            <a:off x="742950" y="2333625"/>
            <a:ext cx="4333875"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101412"/>
                </a:solidFill>
              </a:defRPr>
            </a:pPr>
            <a:r>
              <a:rPr sz="1425" b="0" i="0">
                <a:solidFill>
                  <a:srgbClr val="101412"/>
                </a:solidFill>
              </a:rPr>
              <a:t>• the architecture’s likely hotspots</a:t>
            </a:r>
          </a:p>
          <a:p xmlns:a="http://schemas.openxmlformats.org/drawingml/2006/main">
            <a:r>
              <a:t/>
            </a:r>
          </a:p>
          <a:p xmlns:a="http://schemas.openxmlformats.org/drawingml/2006/main">
            <a:pPr algn="l">
              <a:defRPr sz="1425" b="0" i="0">
                <a:solidFill>
                  <a:srgbClr val="101412"/>
                </a:solidFill>
              </a:defRPr>
            </a:pPr>
            <a:r>
              <a:rPr sz="1425" b="0" i="0">
                <a:solidFill>
                  <a:srgbClr val="101412"/>
                </a:solidFill>
              </a:rPr>
              <a:t>• measured changes in calls, tokens, bytes, latency and cost per R</a:t>
            </a:r>
          </a:p>
          <a:p xmlns:a="http://schemas.openxmlformats.org/drawingml/2006/main">
            <a:r>
              <a:t/>
            </a:r>
          </a:p>
          <a:p xmlns:a="http://schemas.openxmlformats.org/drawingml/2006/main">
            <a:pPr algn="l">
              <a:defRPr sz="1425" b="0" i="0">
                <a:solidFill>
                  <a:srgbClr val="101412"/>
                </a:solidFill>
              </a:defRPr>
            </a:pPr>
            <a:r>
              <a:rPr sz="1425" b="0" i="0">
                <a:solidFill>
                  <a:srgbClr val="101412"/>
                </a:solidFill>
              </a:rPr>
              <a:t>• a lower SCI score only after consistent energy, carbon-intensity and hardware allocation data</a:t>
            </a:r>
          </a:p>
        </p:txBody>
      </p:sp>
      <p:sp>
        <p:nvSpPr>
          <p:cNvPr id="9" name="text-665-200">
            <a:extLst xmlns:a="http://schemas.openxmlformats.org/drawingml/2006/main">
              <a:ext uri="{FF2B5EF4-FFF2-40B4-BE49-F238E27FC236}">
                <a16:creationId xmlns:a16="http://schemas.microsoft.com/office/drawing/2014/main" id="{FAF179DF-3DC5-4F65-8158-816F0DD47731}"/>
              </a:ext>
            </a:extLst>
          </p:cNvPr>
          <p:cNvSpPr>
            <a:spLocks xmlns:a="http://schemas.openxmlformats.org/drawingml/2006/main" noGrp="1"/>
          </p:cNvSpPr>
          <p:nvPr/>
        </p:nvSpPr>
        <p:spPr>
          <a:xfrm xmlns:a="http://schemas.openxmlformats.org/drawingml/2006/main">
            <a:off x="6334125" y="1905000"/>
            <a:ext cx="428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D48449"/>
                </a:solidFill>
              </a:defRPr>
            </a:pPr>
            <a:r>
              <a:rPr sz="975" b="1" i="0">
                <a:solidFill>
                  <a:srgbClr val="D48449"/>
                </a:solidFill>
              </a:rPr>
              <a:t>WE CANNOT CLAIM</a:t>
            </a:r>
          </a:p>
        </p:txBody>
      </p:sp>
      <p:sp>
        <p:nvSpPr>
          <p:cNvPr id="10" name="text-665-245">
            <a:extLst xmlns:a="http://schemas.openxmlformats.org/drawingml/2006/main">
              <a:ext uri="{FF2B5EF4-FFF2-40B4-BE49-F238E27FC236}">
                <a16:creationId xmlns:a16="http://schemas.microsoft.com/office/drawing/2014/main" id="{ED314A36-EC57-42C8-9610-1B0071A77884}"/>
              </a:ext>
            </a:extLst>
          </p:cNvPr>
          <p:cNvSpPr>
            <a:spLocks xmlns:a="http://schemas.openxmlformats.org/drawingml/2006/main" noGrp="1"/>
          </p:cNvSpPr>
          <p:nvPr/>
        </p:nvSpPr>
        <p:spPr>
          <a:xfrm xmlns:a="http://schemas.openxmlformats.org/drawingml/2006/main">
            <a:off x="6334125" y="2333625"/>
            <a:ext cx="4333875"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101412"/>
                </a:solidFill>
              </a:defRPr>
            </a:pPr>
            <a:r>
              <a:rPr sz="1425" b="0" i="0">
                <a:solidFill>
                  <a:srgbClr val="101412"/>
                </a:solidFill>
              </a:rPr>
              <a:t>• that MIRA is ‘carbon neutral’</a:t>
            </a:r>
          </a:p>
          <a:p xmlns:a="http://schemas.openxmlformats.org/drawingml/2006/main">
            <a:r>
              <a:t/>
            </a:r>
          </a:p>
          <a:p xmlns:a="http://schemas.openxmlformats.org/drawingml/2006/main">
            <a:pPr algn="l">
              <a:defRPr sz="1425" b="0" i="0">
                <a:solidFill>
                  <a:srgbClr val="101412"/>
                </a:solidFill>
              </a:defRPr>
            </a:pPr>
            <a:r>
              <a:rPr sz="1425" b="0" i="0">
                <a:solidFill>
                  <a:srgbClr val="101412"/>
                </a:solidFill>
              </a:rPr>
              <a:t>• that lower API cost automatically equals lower emissions</a:t>
            </a:r>
          </a:p>
          <a:p xmlns:a="http://schemas.openxmlformats.org/drawingml/2006/main">
            <a:r>
              <a:t/>
            </a:r>
          </a:p>
          <a:p xmlns:a="http://schemas.openxmlformats.org/drawingml/2006/main">
            <a:pPr algn="l">
              <a:defRPr sz="1425" b="0" i="0">
                <a:solidFill>
                  <a:srgbClr val="101412"/>
                </a:solidFill>
              </a:defRPr>
            </a:pPr>
            <a:r>
              <a:rPr sz="1425" b="0" i="0">
                <a:solidFill>
                  <a:srgbClr val="101412"/>
                </a:solidFill>
              </a:rPr>
              <a:t>• that offsets reduce the SCI score</a:t>
            </a:r>
          </a:p>
          <a:p xmlns:a="http://schemas.openxmlformats.org/drawingml/2006/main">
            <a:r>
              <a:t/>
            </a:r>
          </a:p>
          <a:p xmlns:a="http://schemas.openxmlformats.org/drawingml/2006/main">
            <a:pPr algn="l">
              <a:defRPr sz="1425" b="0" i="0">
                <a:solidFill>
                  <a:srgbClr val="101412"/>
                </a:solidFill>
              </a:defRPr>
            </a:pPr>
            <a:r>
              <a:rPr sz="1425" b="0" i="0">
                <a:solidFill>
                  <a:srgbClr val="101412"/>
                </a:solidFill>
              </a:rPr>
              <a:t>• an exact footprint without provider and infrastructure data</a:t>
            </a:r>
          </a:p>
        </p:txBody>
      </p:sp>
      <p:sp>
        <p:nvSpPr>
          <p:cNvPr id="11" name="text-48-525">
            <a:extLst xmlns:a="http://schemas.openxmlformats.org/drawingml/2006/main">
              <a:ext uri="{FF2B5EF4-FFF2-40B4-BE49-F238E27FC236}">
                <a16:creationId xmlns:a16="http://schemas.microsoft.com/office/drawing/2014/main" id="{4BE78760-897F-407C-B110-99CF973EB9D9}"/>
              </a:ext>
            </a:extLst>
          </p:cNvPr>
          <p:cNvSpPr>
            <a:spLocks xmlns:a="http://schemas.openxmlformats.org/drawingml/2006/main" noGrp="1"/>
          </p:cNvSpPr>
          <p:nvPr/>
        </p:nvSpPr>
        <p:spPr>
          <a:xfrm xmlns:a="http://schemas.openxmlformats.org/drawingml/2006/main">
            <a:off x="457200" y="5000625"/>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975" b="1" i="0">
                <a:solidFill>
                  <a:srgbClr val="173B28"/>
                </a:solidFill>
              </a:defRPr>
            </a:pPr>
            <a:r>
              <a:rPr sz="975" b="1" i="0">
                <a:solidFill>
                  <a:srgbClr val="173B28"/>
                </a:solidFill>
              </a:rPr>
              <a:t>VALIDATE NEXT</a:t>
            </a:r>
          </a:p>
        </p:txBody>
      </p:sp>
      <p:sp>
        <p:nvSpPr>
          <p:cNvPr id="12" name="text-48-560">
            <a:extLst xmlns:a="http://schemas.openxmlformats.org/drawingml/2006/main">
              <a:ext uri="{FF2B5EF4-FFF2-40B4-BE49-F238E27FC236}">
                <a16:creationId xmlns:a16="http://schemas.microsoft.com/office/drawing/2014/main" id="{D104F2EE-7EE0-4573-AFED-61C9422AEEF7}"/>
              </a:ext>
            </a:extLst>
          </p:cNvPr>
          <p:cNvSpPr>
            <a:spLocks xmlns:a="http://schemas.openxmlformats.org/drawingml/2006/main" noGrp="1"/>
          </p:cNvSpPr>
          <p:nvPr/>
        </p:nvSpPr>
        <p:spPr>
          <a:xfrm xmlns:a="http://schemas.openxmlformats.org/drawingml/2006/main">
            <a:off x="457200" y="53340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01</a:t>
            </a:r>
          </a:p>
        </p:txBody>
      </p:sp>
      <p:sp>
        <p:nvSpPr>
          <p:cNvPr id="13" name="text-88-558">
            <a:extLst xmlns:a="http://schemas.openxmlformats.org/drawingml/2006/main">
              <a:ext uri="{FF2B5EF4-FFF2-40B4-BE49-F238E27FC236}">
                <a16:creationId xmlns:a16="http://schemas.microsoft.com/office/drawing/2014/main" id="{806D9C07-2D95-403D-8B2A-3C80BC669EDB}"/>
              </a:ext>
            </a:extLst>
          </p:cNvPr>
          <p:cNvSpPr>
            <a:spLocks xmlns:a="http://schemas.openxmlformats.org/drawingml/2006/main" noGrp="1"/>
          </p:cNvSpPr>
          <p:nvPr/>
        </p:nvSpPr>
        <p:spPr>
          <a:xfrm xmlns:a="http://schemas.openxmlformats.org/drawingml/2006/main">
            <a:off x="838200" y="5314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01412"/>
                </a:solidFill>
              </a:defRPr>
            </a:pPr>
            <a:r>
              <a:rPr sz="1350" b="1" i="0">
                <a:solidFill>
                  <a:srgbClr val="101412"/>
                </a:solidFill>
              </a:rPr>
              <a:t>Model + image call logs</a:t>
            </a:r>
          </a:p>
        </p:txBody>
      </p:sp>
      <p:sp>
        <p:nvSpPr>
          <p:cNvPr id="14" name="text-333-560">
            <a:extLst xmlns:a="http://schemas.openxmlformats.org/drawingml/2006/main">
              <a:ext uri="{FF2B5EF4-FFF2-40B4-BE49-F238E27FC236}">
                <a16:creationId xmlns:a16="http://schemas.microsoft.com/office/drawing/2014/main" id="{14AFCED4-50A8-47D7-BCA4-AF7769978673}"/>
              </a:ext>
            </a:extLst>
          </p:cNvPr>
          <p:cNvSpPr>
            <a:spLocks xmlns:a="http://schemas.openxmlformats.org/drawingml/2006/main" noGrp="1"/>
          </p:cNvSpPr>
          <p:nvPr/>
        </p:nvSpPr>
        <p:spPr>
          <a:xfrm xmlns:a="http://schemas.openxmlformats.org/drawingml/2006/main">
            <a:off x="3171825" y="53340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02</a:t>
            </a:r>
          </a:p>
        </p:txBody>
      </p:sp>
      <p:sp>
        <p:nvSpPr>
          <p:cNvPr id="15" name="text-373-558">
            <a:extLst xmlns:a="http://schemas.openxmlformats.org/drawingml/2006/main">
              <a:ext uri="{FF2B5EF4-FFF2-40B4-BE49-F238E27FC236}">
                <a16:creationId xmlns:a16="http://schemas.microsoft.com/office/drawing/2014/main" id="{42C6309E-DF4B-4E7D-8D4D-6660CC3AF5FA}"/>
              </a:ext>
            </a:extLst>
          </p:cNvPr>
          <p:cNvSpPr>
            <a:spLocks xmlns:a="http://schemas.openxmlformats.org/drawingml/2006/main" noGrp="1"/>
          </p:cNvSpPr>
          <p:nvPr/>
        </p:nvSpPr>
        <p:spPr>
          <a:xfrm xmlns:a="http://schemas.openxmlformats.org/drawingml/2006/main">
            <a:off x="3552825" y="5314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01412"/>
                </a:solidFill>
              </a:defRPr>
            </a:pPr>
            <a:r>
              <a:rPr sz="1350" b="1" i="0">
                <a:solidFill>
                  <a:srgbClr val="101412"/>
                </a:solidFill>
              </a:rPr>
              <a:t>Provider regions and carbon data</a:t>
            </a:r>
          </a:p>
        </p:txBody>
      </p:sp>
      <p:sp>
        <p:nvSpPr>
          <p:cNvPr id="16" name="text-618-560">
            <a:extLst xmlns:a="http://schemas.openxmlformats.org/drawingml/2006/main">
              <a:ext uri="{FF2B5EF4-FFF2-40B4-BE49-F238E27FC236}">
                <a16:creationId xmlns:a16="http://schemas.microsoft.com/office/drawing/2014/main" id="{6AA0F438-21A5-46D2-98E9-C3DBE28FFF13}"/>
              </a:ext>
            </a:extLst>
          </p:cNvPr>
          <p:cNvSpPr>
            <a:spLocks xmlns:a="http://schemas.openxmlformats.org/drawingml/2006/main" noGrp="1"/>
          </p:cNvSpPr>
          <p:nvPr/>
        </p:nvSpPr>
        <p:spPr>
          <a:xfrm xmlns:a="http://schemas.openxmlformats.org/drawingml/2006/main">
            <a:off x="5886450" y="53340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03</a:t>
            </a:r>
          </a:p>
        </p:txBody>
      </p:sp>
      <p:sp>
        <p:nvSpPr>
          <p:cNvPr id="17" name="text-658-558">
            <a:extLst xmlns:a="http://schemas.openxmlformats.org/drawingml/2006/main">
              <a:ext uri="{FF2B5EF4-FFF2-40B4-BE49-F238E27FC236}">
                <a16:creationId xmlns:a16="http://schemas.microsoft.com/office/drawing/2014/main" id="{97489D04-75AD-4B25-A5B1-4D631AA5A46E}"/>
              </a:ext>
            </a:extLst>
          </p:cNvPr>
          <p:cNvSpPr>
            <a:spLocks xmlns:a="http://schemas.openxmlformats.org/drawingml/2006/main" noGrp="1"/>
          </p:cNvSpPr>
          <p:nvPr/>
        </p:nvSpPr>
        <p:spPr>
          <a:xfrm xmlns:a="http://schemas.openxmlformats.org/drawingml/2006/main">
            <a:off x="6267450" y="5314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01412"/>
                </a:solidFill>
              </a:defRPr>
            </a:pPr>
            <a:r>
              <a:rPr sz="1350" b="1" i="0">
                <a:solidFill>
                  <a:srgbClr val="101412"/>
                </a:solidFill>
              </a:rPr>
              <a:t>Runtime utilization</a:t>
            </a:r>
          </a:p>
        </p:txBody>
      </p:sp>
      <p:sp>
        <p:nvSpPr>
          <p:cNvPr id="18" name="text-903-560">
            <a:extLst xmlns:a="http://schemas.openxmlformats.org/drawingml/2006/main">
              <a:ext uri="{FF2B5EF4-FFF2-40B4-BE49-F238E27FC236}">
                <a16:creationId xmlns:a16="http://schemas.microsoft.com/office/drawing/2014/main" id="{7E14B4CB-934C-4EFB-B3A0-4A76F6DC7741}"/>
              </a:ext>
            </a:extLst>
          </p:cNvPr>
          <p:cNvSpPr>
            <a:spLocks xmlns:a="http://schemas.openxmlformats.org/drawingml/2006/main" noGrp="1"/>
          </p:cNvSpPr>
          <p:nvPr/>
        </p:nvSpPr>
        <p:spPr>
          <a:xfrm xmlns:a="http://schemas.openxmlformats.org/drawingml/2006/main">
            <a:off x="8601075" y="5334000"/>
            <a:ext cx="3238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04</a:t>
            </a:r>
          </a:p>
        </p:txBody>
      </p:sp>
      <p:sp>
        <p:nvSpPr>
          <p:cNvPr id="19" name="text-943-558">
            <a:extLst xmlns:a="http://schemas.openxmlformats.org/drawingml/2006/main">
              <a:ext uri="{FF2B5EF4-FFF2-40B4-BE49-F238E27FC236}">
                <a16:creationId xmlns:a16="http://schemas.microsoft.com/office/drawing/2014/main" id="{761A41C1-43A9-4DEA-A92F-65B11EC3B786}"/>
              </a:ext>
            </a:extLst>
          </p:cNvPr>
          <p:cNvSpPr>
            <a:spLocks xmlns:a="http://schemas.openxmlformats.org/drawingml/2006/main" noGrp="1"/>
          </p:cNvSpPr>
          <p:nvPr/>
        </p:nvSpPr>
        <p:spPr>
          <a:xfrm xmlns:a="http://schemas.openxmlformats.org/drawingml/2006/main">
            <a:off x="8982075" y="5314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i="0">
                <a:solidFill>
                  <a:srgbClr val="101412"/>
                </a:solidFill>
              </a:defRPr>
            </a:pPr>
            <a:r>
              <a:rPr sz="1350" b="1" i="0">
                <a:solidFill>
                  <a:srgbClr val="101412"/>
                </a:solidFill>
              </a:rPr>
              <a:t>Storage retention behavior</a:t>
            </a:r>
          </a:p>
        </p:txBody>
      </p:sp>
    </p:spTree>
    <p:extLst>
      <p:ext uri="{BB962C8B-B14F-4D97-AF65-F5344CB8AC3E}">
        <p14:creationId xmlns:p14="http://schemas.microsoft.com/office/powerpoint/2010/main" val="684051195"/>
      </p:ext>
    </p:extLst>
  </p:cSld>
</p:sld>
</file>

<file path=ppt/slides/slide13.xml><?xml version="1.0" encoding="utf-8"?>
<p:sld xmlns:p="http://schemas.openxmlformats.org/presentationml/2006/main">
  <p:cSld>
    <p:bg>
      <p:bgPr>
        <a:solidFill xmlns:a="http://schemas.openxmlformats.org/drawingml/2006/main">
          <a:srgbClr val="173B28"/>
        </a:solidFill>
      </p:bgPr>
    </p:bg>
    <p:spTree>
      <p:nvGrpSpPr>
        <p:cNvPr id="1" name=""/>
        <p:cNvGrpSpPr/>
        <p:nvPr/>
      </p:nvGrpSpPr>
      <p:grpSpPr>
        <a:xfrm xmlns:a="http://schemas.openxmlformats.org/drawingml/2006/main"/>
      </p:grpSpPr>
      <p:sp>
        <p:nvSpPr>
          <p:cNvPr id="16" name="text-48-34">
            <a:extLst xmlns:a="http://schemas.openxmlformats.org/drawingml/2006/main">
              <a:ext uri="{FF2B5EF4-FFF2-40B4-BE49-F238E27FC236}">
                <a16:creationId xmlns:a16="http://schemas.microsoft.com/office/drawing/2014/main" id="{DD8C1EDF-1B18-475B-84A7-DE59034C9153}"/>
              </a:ext>
            </a:extLst>
          </p:cNvPr>
          <p:cNvSpPr>
            <a:spLocks xmlns:a="http://schemas.openxmlformats.org/drawingml/2006/main" noGrp="1"/>
          </p:cNvSpPr>
          <p:nvPr/>
        </p:nvSpPr>
        <p:spPr>
          <a:xfrm xmlns:a="http://schemas.openxmlformats.org/drawingml/2006/main">
            <a:off x="457200" y="3238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050" b="1" i="0">
                <a:solidFill>
                  <a:srgbClr val="4E9D6E"/>
                </a:solidFill>
              </a:defRPr>
            </a:pPr>
            <a:r>
              <a:rPr sz="1050" b="1" i="0">
                <a:solidFill>
                  <a:srgbClr val="4E9D6E"/>
                </a:solidFill>
              </a:rPr>
              <a:t>DECISION</a:t>
            </a:r>
          </a:p>
        </p:txBody>
      </p:sp>
      <p:sp>
        <p:nvSpPr>
          <p:cNvPr id="2" name="text-48-90">
            <a:extLst xmlns:a="http://schemas.openxmlformats.org/drawingml/2006/main">
              <a:ext uri="{FF2B5EF4-FFF2-40B4-BE49-F238E27FC236}">
                <a16:creationId xmlns:a16="http://schemas.microsoft.com/office/drawing/2014/main" id="{A8E55783-192C-4033-B595-B43847E2765E}"/>
              </a:ext>
            </a:extLst>
          </p:cNvPr>
          <p:cNvSpPr>
            <a:spLocks xmlns:a="http://schemas.openxmlformats.org/drawingml/2006/main" noGrp="1"/>
          </p:cNvSpPr>
          <p:nvPr/>
        </p:nvSpPr>
        <p:spPr>
          <a:xfrm xmlns:a="http://schemas.openxmlformats.org/drawingml/2006/main">
            <a:off x="457200" y="857250"/>
            <a:ext cx="952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350" b="1" i="0">
                <a:solidFill>
                  <a:srgbClr val="FFFFFF"/>
                </a:solidFill>
              </a:defRPr>
            </a:pPr>
            <a:r>
              <a:rPr sz="4350" b="1" i="0">
                <a:solidFill>
                  <a:srgbClr val="FFFFFF"/>
                </a:solidFill>
              </a:rPr>
              <a:t>Approve a two-week retrofit sprint</a:t>
            </a:r>
          </a:p>
        </p:txBody>
      </p:sp>
      <p:sp>
        <p:nvSpPr>
          <p:cNvPr id="3" name="text-48-185">
            <a:extLst xmlns:a="http://schemas.openxmlformats.org/drawingml/2006/main">
              <a:ext uri="{FF2B5EF4-FFF2-40B4-BE49-F238E27FC236}">
                <a16:creationId xmlns:a16="http://schemas.microsoft.com/office/drawing/2014/main" id="{5FFDB871-475F-4B33-B25A-623796CF1829}"/>
              </a:ext>
            </a:extLst>
          </p:cNvPr>
          <p:cNvSpPr>
            <a:spLocks xmlns:a="http://schemas.openxmlformats.org/drawingml/2006/main" noGrp="1"/>
          </p:cNvSpPr>
          <p:nvPr/>
        </p:nvSpPr>
        <p:spPr>
          <a:xfrm xmlns:a="http://schemas.openxmlformats.org/drawingml/2006/main">
            <a:off x="457200" y="1762125"/>
            <a:ext cx="838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502"/>
          </a:bodyPr>
          <a:lstStyle xmlns:a="http://schemas.openxmlformats.org/drawingml/2006/main"/>
          <a:p xmlns:a="http://schemas.openxmlformats.org/drawingml/2006/main">
            <a:pPr algn="l">
              <a:defRPr sz="1800" b="0" i="0">
                <a:solidFill>
                  <a:srgbClr val="DDF0E4"/>
                </a:solidFill>
              </a:defRPr>
            </a:pPr>
            <a:r>
              <a:rPr sz="1800" b="0" i="0">
                <a:solidFill>
                  <a:srgbClr val="DDF0E4"/>
                </a:solidFill>
              </a:rPr>
              <a:t>Turn four assumptions into evidence—without changing MIRA’s promise to the user.</a:t>
            </a:r>
          </a:p>
        </p:txBody>
      </p:sp>
      <p:cxnSp>
        <p:nvCxnSpPr>
          <p:cNvPr id="19" name="rule-48-258"/>
          <p:cNvCxnSpPr/>
          <p:nvPr/>
        </p:nvCxnSpPr>
        <p:spPr>
          <a:xfrm xmlns:a="http://schemas.openxmlformats.org/drawingml/2006/main">
            <a:off x="457200" y="2457450"/>
            <a:ext cx="10810875" cy="95"/>
          </a:xfrm>
          <a:prstGeom xmlns:a="http://schemas.openxmlformats.org/drawingml/2006/main" prst="straightConnector1">
            <a:avLst/>
          </a:prstGeom>
          <a:ln xmlns:a="http://schemas.openxmlformats.org/drawingml/2006/main" w="19050">
            <a:solidFill>
              <a:srgbClr val="4E9D6E"/>
            </a:solidFill>
            <a:prstDash val="solid"/>
          </a:ln>
        </p:spPr>
      </p:cxnSp>
      <p:sp>
        <p:nvSpPr>
          <p:cNvPr id="5" name="text-48-320">
            <a:extLst xmlns:a="http://schemas.openxmlformats.org/drawingml/2006/main">
              <a:ext uri="{FF2B5EF4-FFF2-40B4-BE49-F238E27FC236}">
                <a16:creationId xmlns:a16="http://schemas.microsoft.com/office/drawing/2014/main" id="{022D0A43-DBCD-4F02-8FC7-BE36AB84EB2B}"/>
              </a:ext>
            </a:extLst>
          </p:cNvPr>
          <p:cNvSpPr>
            <a:spLocks xmlns:a="http://schemas.openxmlformats.org/drawingml/2006/main" noGrp="1"/>
          </p:cNvSpPr>
          <p:nvPr/>
        </p:nvSpPr>
        <p:spPr>
          <a:xfrm xmlns:a="http://schemas.openxmlformats.org/drawingml/2006/main">
            <a:off x="457200" y="304800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825" b="1" i="0">
                <a:solidFill>
                  <a:srgbClr val="FFFFFF"/>
                </a:solidFill>
              </a:defRPr>
            </a:pPr>
            <a:r>
              <a:rPr sz="3825" b="1" i="0">
                <a:solidFill>
                  <a:srgbClr val="FFFFFF"/>
                </a:solidFill>
              </a:rPr>
              <a:t>20–30%</a:t>
            </a:r>
          </a:p>
        </p:txBody>
      </p:sp>
      <p:sp>
        <p:nvSpPr>
          <p:cNvPr id="6" name="text-48-420">
            <a:extLst xmlns:a="http://schemas.openxmlformats.org/drawingml/2006/main">
              <a:ext uri="{FF2B5EF4-FFF2-40B4-BE49-F238E27FC236}">
                <a16:creationId xmlns:a16="http://schemas.microsoft.com/office/drawing/2014/main" id="{D5C833C0-1008-400C-8389-BA62FC8DA2E4}"/>
              </a:ext>
            </a:extLst>
          </p:cNvPr>
          <p:cNvSpPr>
            <a:spLocks xmlns:a="http://schemas.openxmlformats.org/drawingml/2006/main" noGrp="1"/>
          </p:cNvSpPr>
          <p:nvPr/>
        </p:nvSpPr>
        <p:spPr>
          <a:xfrm xmlns:a="http://schemas.openxmlformats.org/drawingml/2006/main">
            <a:off x="457200" y="400050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DDF0E4"/>
                </a:solidFill>
              </a:defRPr>
            </a:pPr>
            <a:r>
              <a:rPr sz="1425" b="0" i="0">
                <a:solidFill>
                  <a:srgbClr val="DDF0E4"/>
                </a:solidFill>
              </a:rPr>
              <a:t>fewer total model calls per R if duplicate/retry work is a material share</a:t>
            </a:r>
          </a:p>
        </p:txBody>
      </p:sp>
      <p:cxnSp>
        <p:nvCxnSpPr>
          <p:cNvPr id="22" name="vrule-408-315"/>
          <p:cNvCxnSpPr/>
          <p:nvPr/>
        </p:nvCxnSpPr>
        <p:spPr>
          <a:xfrm xmlns:a="http://schemas.openxmlformats.org/drawingml/2006/main">
            <a:off x="3886200" y="3000375"/>
            <a:ext cx="95" cy="2190750"/>
          </a:xfrm>
          <a:prstGeom xmlns:a="http://schemas.openxmlformats.org/drawingml/2006/main" prst="straightConnector1">
            <a:avLst/>
          </a:prstGeom>
          <a:ln xmlns:a="http://schemas.openxmlformats.org/drawingml/2006/main" w="9525">
            <a:solidFill>
              <a:srgbClr val="4E9D6E"/>
            </a:solidFill>
            <a:prstDash val="solid"/>
          </a:ln>
        </p:spPr>
      </p:cxnSp>
      <p:sp>
        <p:nvSpPr>
          <p:cNvPr id="8" name="text-435-320">
            <a:extLst xmlns:a="http://schemas.openxmlformats.org/drawingml/2006/main">
              <a:ext uri="{FF2B5EF4-FFF2-40B4-BE49-F238E27FC236}">
                <a16:creationId xmlns:a16="http://schemas.microsoft.com/office/drawing/2014/main" id="{52B7E97D-7845-4F86-A0DC-68CB7AB4C9E6}"/>
              </a:ext>
            </a:extLst>
          </p:cNvPr>
          <p:cNvSpPr>
            <a:spLocks xmlns:a="http://schemas.openxmlformats.org/drawingml/2006/main" noGrp="1"/>
          </p:cNvSpPr>
          <p:nvPr/>
        </p:nvSpPr>
        <p:spPr>
          <a:xfrm xmlns:a="http://schemas.openxmlformats.org/drawingml/2006/main">
            <a:off x="4143375" y="304800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825" b="1" i="0">
                <a:solidFill>
                  <a:srgbClr val="FFFFFF"/>
                </a:solidFill>
              </a:defRPr>
            </a:pPr>
            <a:r>
              <a:rPr sz="3825" b="1" i="0">
                <a:solidFill>
                  <a:srgbClr val="FFFFFF"/>
                </a:solidFill>
              </a:rPr>
              <a:t>40–70%</a:t>
            </a:r>
          </a:p>
        </p:txBody>
      </p:sp>
      <p:sp>
        <p:nvSpPr>
          <p:cNvPr id="9" name="text-435-420">
            <a:extLst xmlns:a="http://schemas.openxmlformats.org/drawingml/2006/main">
              <a:ext uri="{FF2B5EF4-FFF2-40B4-BE49-F238E27FC236}">
                <a16:creationId xmlns:a16="http://schemas.microsoft.com/office/drawing/2014/main" id="{EF5569EA-4171-43C9-9379-6E5AC07A6459}"/>
              </a:ext>
            </a:extLst>
          </p:cNvPr>
          <p:cNvSpPr>
            <a:spLocks xmlns:a="http://schemas.openxmlformats.org/drawingml/2006/main" noGrp="1"/>
          </p:cNvSpPr>
          <p:nvPr/>
        </p:nvSpPr>
        <p:spPr>
          <a:xfrm xmlns:a="http://schemas.openxmlformats.org/drawingml/2006/main">
            <a:off x="4143375" y="400050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DDF0E4"/>
                </a:solidFill>
              </a:defRPr>
            </a:pPr>
            <a:r>
              <a:rPr sz="1425" b="0" i="0">
                <a:solidFill>
                  <a:srgbClr val="DDF0E4"/>
                </a:solidFill>
              </a:rPr>
              <a:t>fewer intermediate image bytes when drafts are right-sized and expired</a:t>
            </a:r>
          </a:p>
        </p:txBody>
      </p:sp>
      <p:cxnSp>
        <p:nvCxnSpPr>
          <p:cNvPr id="25" name="vrule-795-315"/>
          <p:cNvCxnSpPr/>
          <p:nvPr/>
        </p:nvCxnSpPr>
        <p:spPr>
          <a:xfrm xmlns:a="http://schemas.openxmlformats.org/drawingml/2006/main">
            <a:off x="7572375" y="3000375"/>
            <a:ext cx="95" cy="2190750"/>
          </a:xfrm>
          <a:prstGeom xmlns:a="http://schemas.openxmlformats.org/drawingml/2006/main" prst="straightConnector1">
            <a:avLst/>
          </a:prstGeom>
          <a:ln xmlns:a="http://schemas.openxmlformats.org/drawingml/2006/main" w="9525">
            <a:solidFill>
              <a:srgbClr val="4E9D6E"/>
            </a:solidFill>
            <a:prstDash val="solid"/>
          </a:ln>
        </p:spPr>
      </p:cxnSp>
      <p:sp>
        <p:nvSpPr>
          <p:cNvPr id="11" name="text-822-320">
            <a:extLst xmlns:a="http://schemas.openxmlformats.org/drawingml/2006/main">
              <a:ext uri="{FF2B5EF4-FFF2-40B4-BE49-F238E27FC236}">
                <a16:creationId xmlns:a16="http://schemas.microsoft.com/office/drawing/2014/main" id="{0C74988C-F855-4FC4-A5A1-21369EA3E5DC}"/>
              </a:ext>
            </a:extLst>
          </p:cNvPr>
          <p:cNvSpPr>
            <a:spLocks xmlns:a="http://schemas.openxmlformats.org/drawingml/2006/main" noGrp="1"/>
          </p:cNvSpPr>
          <p:nvPr/>
        </p:nvSpPr>
        <p:spPr>
          <a:xfrm xmlns:a="http://schemas.openxmlformats.org/drawingml/2006/main">
            <a:off x="7829550" y="3048000"/>
            <a:ext cx="314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3825" b="1" i="0">
                <a:solidFill>
                  <a:srgbClr val="F6E7DB"/>
                </a:solidFill>
              </a:defRPr>
            </a:pPr>
            <a:r>
              <a:rPr sz="3825" b="1" i="0">
                <a:solidFill>
                  <a:srgbClr val="F6E7DB"/>
                </a:solidFill>
              </a:rPr>
              <a:t>≈0</a:t>
            </a:r>
          </a:p>
        </p:txBody>
      </p:sp>
      <p:sp>
        <p:nvSpPr>
          <p:cNvPr id="12" name="text-822-420">
            <a:extLst xmlns:a="http://schemas.openxmlformats.org/drawingml/2006/main">
              <a:ext uri="{FF2B5EF4-FFF2-40B4-BE49-F238E27FC236}">
                <a16:creationId xmlns:a16="http://schemas.microsoft.com/office/drawing/2014/main" id="{15EB8FEB-4695-4AFB-B52D-C3990FCA8182}"/>
              </a:ext>
            </a:extLst>
          </p:cNvPr>
          <p:cNvSpPr>
            <a:spLocks xmlns:a="http://schemas.openxmlformats.org/drawingml/2006/main" noGrp="1"/>
          </p:cNvSpPr>
          <p:nvPr/>
        </p:nvSpPr>
        <p:spPr>
          <a:xfrm xmlns:a="http://schemas.openxmlformats.org/drawingml/2006/main">
            <a:off x="7829550" y="400050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0" i="0">
                <a:solidFill>
                  <a:srgbClr val="DDF0E4"/>
                </a:solidFill>
              </a:defRPr>
            </a:pPr>
            <a:r>
              <a:rPr sz="1425" b="0" i="0">
                <a:solidFill>
                  <a:srgbClr val="DDF0E4"/>
                </a:solidFill>
              </a:rPr>
              <a:t>idle application compute during no-traffic windows if scale-to-zero is feasible</a:t>
            </a:r>
          </a:p>
        </p:txBody>
      </p:sp>
      <p:sp>
        <p:nvSpPr>
          <p:cNvPr id="13" name="decision-strip">
            <a:extLst xmlns:a="http://schemas.openxmlformats.org/drawingml/2006/main">
              <a:ext uri="{FF2B5EF4-FFF2-40B4-BE49-F238E27FC236}">
                <a16:creationId xmlns:a16="http://schemas.microsoft.com/office/drawing/2014/main" id="{21A875FA-E410-4390-A222-38EC6C226D5D}"/>
              </a:ext>
            </a:extLst>
          </p:cNvPr>
          <p:cNvSpPr>
            <a:spLocks xmlns:a="http://schemas.openxmlformats.org/drawingml/2006/main" noGrp="1"/>
          </p:cNvSpPr>
          <p:nvPr/>
        </p:nvSpPr>
        <p:spPr>
          <a:xfrm xmlns:a="http://schemas.openxmlformats.org/drawingml/2006/main">
            <a:off x="457200" y="5429250"/>
            <a:ext cx="10810875" cy="6286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4" name="text-72-588">
            <a:extLst xmlns:a="http://schemas.openxmlformats.org/drawingml/2006/main">
              <a:ext uri="{FF2B5EF4-FFF2-40B4-BE49-F238E27FC236}">
                <a16:creationId xmlns:a16="http://schemas.microsoft.com/office/drawing/2014/main" id="{48923B3F-94F6-48D1-B1A3-C084D4858529}"/>
              </a:ext>
            </a:extLst>
          </p:cNvPr>
          <p:cNvSpPr>
            <a:spLocks xmlns:a="http://schemas.openxmlformats.org/drawingml/2006/main" noGrp="1"/>
          </p:cNvSpPr>
          <p:nvPr/>
        </p:nvSpPr>
        <p:spPr>
          <a:xfrm xmlns:a="http://schemas.openxmlformats.org/drawingml/2006/main">
            <a:off x="685800" y="5600700"/>
            <a:ext cx="10382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425" b="1" i="0">
                <a:solidFill>
                  <a:srgbClr val="173B28"/>
                </a:solidFill>
              </a:defRPr>
            </a:pPr>
            <a:r>
              <a:rPr sz="1425" b="1" i="0">
                <a:solidFill>
                  <a:srgbClr val="173B28"/>
                </a:solidFill>
              </a:rPr>
              <a:t>GO / NO-GO RULE  Ship the retrofit only if efficiency improves per R and usefulness remains non-inferior.</a:t>
            </a:r>
          </a:p>
        </p:txBody>
      </p:sp>
      <p:sp>
        <p:nvSpPr>
          <p:cNvPr id="15" name="text-915-675">
            <a:extLst xmlns:a="http://schemas.openxmlformats.org/drawingml/2006/main">
              <a:ext uri="{FF2B5EF4-FFF2-40B4-BE49-F238E27FC236}">
                <a16:creationId xmlns:a16="http://schemas.microsoft.com/office/drawing/2014/main" id="{E23844DD-DAF9-40B7-8D6F-11C195D41C5F}"/>
              </a:ext>
            </a:extLst>
          </p:cNvPr>
          <p:cNvSpPr>
            <a:spLocks xmlns:a="http://schemas.openxmlformats.org/drawingml/2006/main" noGrp="1"/>
          </p:cNvSpPr>
          <p:nvPr/>
        </p:nvSpPr>
        <p:spPr>
          <a:xfrm xmlns:a="http://schemas.openxmlformats.org/drawingml/2006/main">
            <a:off x="8715375" y="6429375"/>
            <a:ext cx="3000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i="1">
                <a:solidFill>
                  <a:srgbClr val="DDF0E4"/>
                </a:solidFill>
              </a:defRPr>
            </a:pPr>
            <a:r>
              <a:rPr sz="975" b="0" i="1">
                <a:solidFill>
                  <a:srgbClr val="DDF0E4"/>
                </a:solidFill>
              </a:rPr>
              <a:t>Hypotheses—not measured outcomes</a:t>
            </a:r>
          </a:p>
        </p:txBody>
      </p:sp>
    </p:spTree>
    <p:extLst>
      <p:ext uri="{BB962C8B-B14F-4D97-AF65-F5344CB8AC3E}">
        <p14:creationId xmlns:p14="http://schemas.microsoft.com/office/powerpoint/2010/main" val="261253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2026-08-20T11:06:02.0950000Z</dcterms:created>
  <dcterms:modified xsi:type="dcterms:W3CDTF">2026-08-20T11:06:02.0950000Z</dcterms:modified>
</coreProperties>
</file>